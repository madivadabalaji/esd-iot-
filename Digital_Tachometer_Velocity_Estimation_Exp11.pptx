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94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ash Teja" userId="18614dc927394299" providerId="LiveId" clId="{6B1FE45E-AA26-4E7E-A33E-8A12B0F5493A}"/>
    <pc:docChg chg="custSel modSld">
      <pc:chgData name="Subhash Teja" userId="18614dc927394299" providerId="LiveId" clId="{6B1FE45E-AA26-4E7E-A33E-8A12B0F5493A}" dt="2026-10-13T13:59:59.468" v="8" actId="1036"/>
      <pc:docMkLst>
        <pc:docMk/>
      </pc:docMkLst>
      <pc:sldChg chg="delSp modSp mod">
        <pc:chgData name="Subhash Teja" userId="18614dc927394299" providerId="LiveId" clId="{6B1FE45E-AA26-4E7E-A33E-8A12B0F5493A}" dt="2026-10-13T13:59:59.468" v="8" actId="1036"/>
        <pc:sldMkLst>
          <pc:docMk/>
          <pc:sldMk cId="0" sldId="258"/>
        </pc:sldMkLst>
        <pc:spChg chg="mod">
          <ac:chgData name="Subhash Teja" userId="18614dc927394299" providerId="LiveId" clId="{6B1FE45E-AA26-4E7E-A33E-8A12B0F5493A}" dt="2026-10-13T13:59:59.468" v="8" actId="1036"/>
          <ac:spMkLst>
            <pc:docMk/>
            <pc:sldMk cId="0" sldId="258"/>
            <ac:spMk id="2" creationId="{00000000-0000-0000-0000-000000000000}"/>
          </ac:spMkLst>
        </pc:spChg>
        <pc:spChg chg="mod">
          <ac:chgData name="Subhash Teja" userId="18614dc927394299" providerId="LiveId" clId="{6B1FE45E-AA26-4E7E-A33E-8A12B0F5493A}" dt="2026-10-13T13:59:48.091" v="6" actId="20577"/>
          <ac:spMkLst>
            <pc:docMk/>
            <pc:sldMk cId="0" sldId="258"/>
            <ac:spMk id="5" creationId="{00000000-0000-0000-0000-000000000000}"/>
          </ac:spMkLst>
        </pc:spChg>
        <pc:spChg chg="del">
          <ac:chgData name="Subhash Teja" userId="18614dc927394299" providerId="LiveId" clId="{6B1FE45E-AA26-4E7E-A33E-8A12B0F5493A}" dt="2026-10-13T13:59:34.694" v="2" actId="478"/>
          <ac:spMkLst>
            <pc:docMk/>
            <pc:sldMk cId="0" sldId="258"/>
            <ac:spMk id="14" creationId="{00000000-0000-0000-0000-000000000000}"/>
          </ac:spMkLst>
        </pc:spChg>
        <pc:spChg chg="del">
          <ac:chgData name="Subhash Teja" userId="18614dc927394299" providerId="LiveId" clId="{6B1FE45E-AA26-4E7E-A33E-8A12B0F5493A}" dt="2026-10-13T13:59:25.293" v="0" actId="478"/>
          <ac:spMkLst>
            <pc:docMk/>
            <pc:sldMk cId="0" sldId="258"/>
            <ac:spMk id="15" creationId="{00000000-0000-0000-0000-000000000000}"/>
          </ac:spMkLst>
        </pc:spChg>
        <pc:spChg chg="del">
          <ac:chgData name="Subhash Teja" userId="18614dc927394299" providerId="LiveId" clId="{6B1FE45E-AA26-4E7E-A33E-8A12B0F5493A}" dt="2026-10-13T13:59:31.623" v="1" actId="21"/>
          <ac:spMkLst>
            <pc:docMk/>
            <pc:sldMk cId="0" sldId="258"/>
            <ac:spMk id="16" creationId="{00000000-0000-0000-0000-000000000000}"/>
          </ac:spMkLst>
        </pc:spChg>
        <pc:spChg chg="del mod">
          <ac:chgData name="Subhash Teja" userId="18614dc927394299" providerId="LiveId" clId="{6B1FE45E-AA26-4E7E-A33E-8A12B0F5493A}" dt="2026-10-13T13:59:39.191" v="4" actId="478"/>
          <ac:spMkLst>
            <pc:docMk/>
            <pc:sldMk cId="0" sldId="258"/>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734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faculty and project evaluators. Today I am presenting Experiment 11 for the Embedded Systems Design and IoT course, titled 'Digital Tachometer with Velocity Estimation'. In this project, we explore the automated measurement of rotational speed using rotary encoder pulse trains and an STM32 microcontroller model. Please note from the outset that this implementation has been conducted entirely in software simulation. No physical STM32 board, rotary encoder, or DC motor was assembled or physically tested. All pulse waveforms, graphs, and performance parameters presented in this review are simulated and mathematically verified results to validate the algorithm before hardware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outlines the abstract of Experiment 11. Our digital tachometer operates on the principle of converting continuous mechanical rotational movement into digital pulses using an incremental rotary encoder model. The core advantage of digital pulse counting over analog tachogenerators is that it is immune to brush wear, thermal drift, and calibration decay. The STM32 microcontroller is modeled using two hardware timer functions: Timer 2 acts as an asynchronous pulse accumulator, while Timer 3 triggers a deterministic 1.0-second interrupt. During each interrupt, the pulse count is latched, and the firmware calculates RPM and angular velocity in radians per second. Crucially, the entire system has been modeled and evaluated within software simulation to establish algorithmic soundness before physical hardware construction.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covers the problem statement and motivation. In modern industrial automation, continuous rotational speed measurement is essential. Traditional manual stroboscopes or contact tachometers cannot be integrated into automated feedback loops. Analog DC tachogenerators suffer from brush wear, mechanical friction, and thermal drift. A digital tachometer solves this by capturing optical encoder pulses directly through microcontroller timers. Furthermore, by simulating this system first, we avoid physical risks like motor runaway or counter overflow, enabling thorough algorithmic validation before committing to physical prototyping.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specifies our formal project aim and six measurable technical objectives. Our overarching aim is to design and simulate an STM32-based digital tachometer that estimates rotational speed and angular velocity from encoder pulse data. The six objectives systematically address: generating encoder pulses, setting up deterministic sampling intervals, computing RPM, calculating angular velocity in rad/s, presenting telemetry via a virtual interface, and finally benchmarking the algorithm across representative test speeds including 0, 300, 600, and 900 RPM.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presents the complete system architecture and signal flow. The simulation pipeline consists of three interconnected stages. In Stage A, the simulated motor rotation drives the incremental rotary encoder model, producing square pulses at a frequency directly proportional to rotational speed. In Stage B, the STM32 controller leverages dual hardware timers: Timer 2 counts external rising edges, while Timer 3 generates a deterministic periodic interrupt every 1.0 second. This hardware timer decoupling prevents CPU blocking. In Stage C, the firmware calculates rotational speed in RPM and angular velocity in radians per second, forwarding data to the simulated serial terminal and dashboard.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clearly distinguishes our proposed physical hardware from our software simulation environment. As highlighted in the project requirements, no physical hardware was assembled or tested. The left column lists the proposed physical components for future lab implementation, including an STM32F401RE Nucleo board, an optical encoder, a DC motor, an L298N driver, and an LCD. The right column details the software simulation tools actually utilized: STM32CubeIDE architectural models for timer configuration, Python 3.14 and NumPy for pulse modeling and discrete time simulation, Matplotlib for graphing simulated waveforms, and a virtual serial terminal for telemetry logging.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details the mathematical working principle and equations. In Equation 1, rotational speed in RPM is calculated as N divided by (PPR times delta t), multiplied by 60. In Equation 2, angular velocity omega is converted directly to radians per second by multiplying RPM by 2 pi over 60, which simplifies to approximately 0.10472 times RPM. On the right, we address a critical engineering detail: the difference between encoder cycles per revolution (CPR) and counted edges per revolution (PPR). In 1x mode, only rising edges of channel A are counted. In 2x mode, both edges are counted. In 4x quadrature mode, all transitions on both channels are counted. To avoid double-counting or speed inflation, the denominator PPR must precisely reflect the active edge-counting mode.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illustrates the complete algorithm and flowchart. The system uses a clean, non-blocking two-timer design. Timer 2 acts as a hardware pulse accumulator, while Timer 3 triggers an interrupt every 1.0 second. In Step 4, we explicitly handle the stopped-motor boundary condition: if pulse count N is zero, the algorithm assigns 0 RPM and 0 rad/s immediately without numerical instability. In Step 5, for positive pulse counts, the equations are evaluated and telemetry is dispatched via virtual UART in Step 6. This decoupled structure ensures deterministic timing and high measurement accuracy.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explains our simulation implementation. Across the top banner is the 7-step simulation workflow: we initialize parameters, apply simulated motor speeds, synthesize pulse trains, count pulses, calculate speed metrics, compare against configured speeds, and plot graphs. On the left is the target STM32 C code modeled in STM32CubeIDE. It resides in the HAL timer period elapsed callback. On the right is the Python verification script that emulates this discrete sampling logic. It proves that discrete pulse counts yield identical mathematical estimates without numerical divergence.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presents the simulated outputs and waveforms. The four graphs on the left display: the simulated pulse trains at 100 Hz, 200 Hz, and 300 Hz; the dynamic RPM step response over time; the corresponding angular velocity in radians per second; and the pulse count linearity curve showing an exact R-squared of 1.0. The table on the right summarizes our standard test conditions: at 300 RPM, the system counts 100 pulses per second, yielding 300 RPM and 31.42 rad/s. At 600 RPM, it counts 200 pulses, yielding 62.83 rad/s. At 900 RPM, it counts 300 pulses, yielding 94.25 rad/s. As noted in the disclaimer banner, these results represent illustrative simulation data confirming algorithmic accuracy.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evaluates our testing verification, target industrial applications, and practical engineering limitations. The test benchmarks on the left confirm that the algorithm reproduces zero error across ideal conditions, including the 0 RPM zero-guard condition. The middle card highlights key industrial applications, from industrial motor drives and robotics odometry to conveyor lines and HVAC pumps. On the right, we objectively address engineering limitations: simulation does not account for optical dust, mechanical vibration, or electrical noise. Furthermore, our 20-PPR encoder with a 1-second sampling window imposes a 3-RPM quantization step, and the 1-second gating time introduces latency during aggressive motor transients.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Experiment 11 successfully demonstrates a digital tachometer with velocity estimation using an STM32 microcontroller model in software simulation. The mathematical algorithms, timer interrupt workflows, and SI velocity conversions have been thoroughly validated across multiple speed regimes. As future scope, we plan to assemble the physical hardware using an STM32 Nucleo board, apply digital filtering for noisy environments, upgrade to bidirectional 4x quadrature decoding, and integrate an ESP32 co-processor for IoT cloud telemetry. Thank you for your attention, and I am now open to questions from the evaluation committee.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14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502920"/>
            <a:ext cx="530352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EMBEDDED SYSTEMS DESIGN &amp; IOT  |  LABORATORY EXPERIMENT 11</a:t>
            </a:r>
          </a:p>
        </p:txBody>
      </p:sp>
      <p:sp>
        <p:nvSpPr>
          <p:cNvPr id="6" name="TextBox 5"/>
          <p:cNvSpPr txBox="1"/>
          <p:nvPr/>
        </p:nvSpPr>
        <p:spPr>
          <a:xfrm>
            <a:off x="731520" y="960120"/>
            <a:ext cx="10698480" cy="1188720"/>
          </a:xfrm>
          <a:prstGeom prst="rect">
            <a:avLst/>
          </a:prstGeom>
          <a:noFill/>
        </p:spPr>
        <p:txBody>
          <a:bodyPr wrap="square">
            <a:spAutoFit/>
          </a:bodyPr>
          <a:lstStyle/>
          <a:p>
            <a:pPr>
              <a:defRPr sz="3200" b="1">
                <a:solidFill>
                  <a:srgbClr val="FFFFFF"/>
                </a:solidFill>
                <a:latin typeface="Segoe UI"/>
              </a:defRPr>
            </a:pPr>
            <a:r>
              <a:t>Digital Tachometer with Velocity Estimation</a:t>
            </a:r>
          </a:p>
          <a:p>
            <a:pPr>
              <a:spcBef>
                <a:spcPts val="400"/>
              </a:spcBef>
              <a:defRPr sz="1400">
                <a:solidFill>
                  <a:srgbClr val="00E5FF"/>
                </a:solidFill>
                <a:latin typeface="Segoe UI"/>
              </a:defRPr>
            </a:pPr>
            <a:r>
              <a:t>Discrete Pulse Frequency Counting &amp; Real-Time Angular Velocity Estimation Model</a:t>
            </a:r>
          </a:p>
        </p:txBody>
      </p:sp>
      <p:sp>
        <p:nvSpPr>
          <p:cNvPr id="7" name="Rounded Rectangle 6"/>
          <p:cNvSpPr/>
          <p:nvPr/>
        </p:nvSpPr>
        <p:spPr>
          <a:xfrm>
            <a:off x="731520" y="2240280"/>
            <a:ext cx="10728655" cy="384048"/>
          </a:xfrm>
          <a:prstGeom prst="roundRect">
            <a:avLst/>
          </a:prstGeom>
          <a:solidFill>
            <a:srgbClr val="102A43"/>
          </a:solidFill>
          <a:ln w="1905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EB2B2"/>
                </a:solidFill>
                <a:latin typeface="Segoe UI"/>
              </a:defRPr>
            </a:pPr>
            <a:r>
              <a:t>STATUS: SOFTWARE SIMULATION ONLY  —  Mathematical Algorithm &amp; STM32 Controller Logic Validated in Simulation Environment</a:t>
            </a:r>
          </a:p>
        </p:txBody>
      </p:sp>
      <p:pic>
        <p:nvPicPr>
          <p:cNvPr id="8" name="Picture 7" descr="slide1_concept_art.png"/>
          <p:cNvPicPr>
            <a:picLocks noChangeAspect="1"/>
          </p:cNvPicPr>
          <p:nvPr/>
        </p:nvPicPr>
        <p:blipFill>
          <a:blip r:embed="rId3"/>
          <a:stretch>
            <a:fillRect/>
          </a:stretch>
        </p:blipFill>
        <p:spPr>
          <a:xfrm>
            <a:off x="731520" y="2788920"/>
            <a:ext cx="10728655" cy="2148840"/>
          </a:xfrm>
          <a:prstGeom prst="rect">
            <a:avLst/>
          </a:prstGeom>
        </p:spPr>
      </p:pic>
      <p:sp>
        <p:nvSpPr>
          <p:cNvPr id="9" name="Rounded Rectangle 8"/>
          <p:cNvSpPr/>
          <p:nvPr/>
        </p:nvSpPr>
        <p:spPr>
          <a:xfrm>
            <a:off x="731520" y="5120640"/>
            <a:ext cx="3383280" cy="1234440"/>
          </a:xfrm>
          <a:prstGeom prst="roundRect">
            <a:avLst/>
          </a:prstGeom>
          <a:solidFill>
            <a:srgbClr val="102A43"/>
          </a:solidFill>
          <a:ln>
            <a:solidFill>
              <a:srgbClr val="627D98"/>
            </a:solidFill>
          </a:ln>
        </p:spPr>
        <p:style>
          <a:lnRef idx="1">
            <a:schemeClr val="accent1"/>
          </a:lnRef>
          <a:fillRef idx="3">
            <a:schemeClr val="accent1"/>
          </a:fillRef>
          <a:effectRef idx="2">
            <a:schemeClr val="accent1"/>
          </a:effectRef>
          <a:fontRef idx="minor">
            <a:schemeClr val="lt1"/>
          </a:fontRef>
        </p:style>
        <p:txBody>
          <a:bodyPr lIns="137160" tIns="91440" rtlCol="0" anchor="ctr"/>
          <a:lstStyle/>
          <a:p>
            <a:pPr algn="ctr">
              <a:defRPr sz="950" b="1">
                <a:solidFill>
                  <a:srgbClr val="00E5FF"/>
                </a:solidFill>
                <a:latin typeface="Segoe UI"/>
              </a:defRPr>
            </a:pPr>
            <a:r>
              <a:t>STUDENT CREDENTIALS</a:t>
            </a:r>
          </a:p>
          <a:p>
            <a:pPr>
              <a:spcBef>
                <a:spcPts val="300"/>
              </a:spcBef>
              <a:defRPr sz="900">
                <a:solidFill>
                  <a:srgbClr val="FFFFFF"/>
                </a:solidFill>
                <a:latin typeface="Segoe UI"/>
              </a:defRPr>
            </a:pPr>
            <a:r>
              <a:t>• Student Name: Subhashree</a:t>
            </a:r>
            <a:br/>
            <a:r>
              <a:t>• Roll Number: [Roll No. / Reg. No.]</a:t>
            </a:r>
            <a:br/>
            <a:r>
              <a:t>• Degree: B.Tech / B.E. (ESD &amp; IoT)</a:t>
            </a:r>
          </a:p>
        </p:txBody>
      </p:sp>
      <p:sp>
        <p:nvSpPr>
          <p:cNvPr id="10" name="Rounded Rectangle 9"/>
          <p:cNvSpPr/>
          <p:nvPr/>
        </p:nvSpPr>
        <p:spPr>
          <a:xfrm>
            <a:off x="4389120" y="5120640"/>
            <a:ext cx="3383280" cy="1234440"/>
          </a:xfrm>
          <a:prstGeom prst="roundRect">
            <a:avLst/>
          </a:prstGeom>
          <a:solidFill>
            <a:srgbClr val="102A43"/>
          </a:solidFill>
          <a:ln>
            <a:solidFill>
              <a:srgbClr val="627D98"/>
            </a:solidFill>
          </a:ln>
        </p:spPr>
        <p:style>
          <a:lnRef idx="1">
            <a:schemeClr val="accent1"/>
          </a:lnRef>
          <a:fillRef idx="3">
            <a:schemeClr val="accent1"/>
          </a:fillRef>
          <a:effectRef idx="2">
            <a:schemeClr val="accent1"/>
          </a:effectRef>
          <a:fontRef idx="minor">
            <a:schemeClr val="lt1"/>
          </a:fontRef>
        </p:style>
        <p:txBody>
          <a:bodyPr lIns="137160" tIns="91440" rtlCol="0" anchor="ctr"/>
          <a:lstStyle/>
          <a:p>
            <a:pPr algn="ctr">
              <a:defRPr sz="950" b="1">
                <a:solidFill>
                  <a:srgbClr val="00E5FF"/>
                </a:solidFill>
                <a:latin typeface="Segoe UI"/>
              </a:defRPr>
            </a:pPr>
            <a:r>
              <a:t>FACULTY &amp; EVALUATION</a:t>
            </a:r>
          </a:p>
          <a:p>
            <a:pPr>
              <a:spcBef>
                <a:spcPts val="300"/>
              </a:spcBef>
              <a:defRPr sz="900">
                <a:solidFill>
                  <a:srgbClr val="FFFFFF"/>
                </a:solidFill>
                <a:latin typeface="Segoe UI"/>
              </a:defRPr>
            </a:pPr>
            <a:r>
              <a:t>• Evaluator: Course Faculty</a:t>
            </a:r>
            <a:br/>
            <a:r>
              <a:t>• Lab: Embedded Systems Design &amp; IoT Lab</a:t>
            </a:r>
            <a:br/>
            <a:r>
              <a:t>• Academic Term: 2026 Evaluation</a:t>
            </a:r>
          </a:p>
        </p:txBody>
      </p:sp>
      <p:sp>
        <p:nvSpPr>
          <p:cNvPr id="11" name="Rounded Rectangle 10"/>
          <p:cNvSpPr/>
          <p:nvPr/>
        </p:nvSpPr>
        <p:spPr>
          <a:xfrm>
            <a:off x="8046720" y="5120640"/>
            <a:ext cx="3383280" cy="1234440"/>
          </a:xfrm>
          <a:prstGeom prst="roundRect">
            <a:avLst/>
          </a:prstGeom>
          <a:solidFill>
            <a:srgbClr val="102A43"/>
          </a:solidFill>
          <a:ln>
            <a:solidFill>
              <a:srgbClr val="627D98"/>
            </a:solidFill>
          </a:ln>
        </p:spPr>
        <p:style>
          <a:lnRef idx="1">
            <a:schemeClr val="accent1"/>
          </a:lnRef>
          <a:fillRef idx="3">
            <a:schemeClr val="accent1"/>
          </a:fillRef>
          <a:effectRef idx="2">
            <a:schemeClr val="accent1"/>
          </a:effectRef>
          <a:fontRef idx="minor">
            <a:schemeClr val="lt1"/>
          </a:fontRef>
        </p:style>
        <p:txBody>
          <a:bodyPr lIns="137160" tIns="91440" rtlCol="0" anchor="ctr"/>
          <a:lstStyle/>
          <a:p>
            <a:pPr algn="ctr">
              <a:defRPr sz="950" b="1">
                <a:solidFill>
                  <a:srgbClr val="00E5FF"/>
                </a:solidFill>
                <a:latin typeface="Segoe UI"/>
              </a:defRPr>
            </a:pPr>
            <a:r>
              <a:t>INSTITUTION DETAILS</a:t>
            </a:r>
          </a:p>
          <a:p>
            <a:pPr>
              <a:spcBef>
                <a:spcPts val="300"/>
              </a:spcBef>
              <a:defRPr sz="900">
                <a:solidFill>
                  <a:srgbClr val="FFFFFF"/>
                </a:solidFill>
                <a:latin typeface="Segoe UI"/>
              </a:defRPr>
            </a:pPr>
            <a:r>
              <a:t>• Dept: Electronics &amp; Communication Engg.</a:t>
            </a:r>
            <a:br/>
            <a:r>
              <a:t>• Institution: Engineering College</a:t>
            </a:r>
            <a:br/>
            <a:r>
              <a:t>• Experiment Category: STM32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Abstract &amp; Executive Summary</a:t>
            </a:r>
          </a:p>
          <a:p>
            <a:pPr>
              <a:spcBef>
                <a:spcPts val="300"/>
              </a:spcBef>
              <a:defRPr sz="1100">
                <a:solidFill>
                  <a:srgbClr val="00E5FF"/>
                </a:solidFill>
                <a:latin typeface="Segoe UI"/>
              </a:defRPr>
            </a:pPr>
            <a:r>
              <a:t>High-Precision Rotational Speed &amp; Velocity Estimation via STM32 Pulse Counting Model</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325880"/>
            <a:ext cx="3474720" cy="411480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325880"/>
            <a:ext cx="347472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362456"/>
            <a:ext cx="3200400" cy="347472"/>
          </a:xfrm>
          <a:prstGeom prst="rect">
            <a:avLst/>
          </a:prstGeom>
          <a:noFill/>
        </p:spPr>
        <p:txBody>
          <a:bodyPr wrap="none" lIns="0" tIns="0" rIns="0" bIns="0">
            <a:spAutoFit/>
          </a:bodyPr>
          <a:lstStyle/>
          <a:p>
            <a:pPr algn="l">
              <a:defRPr sz="1050" b="1">
                <a:solidFill>
                  <a:srgbClr val="FFFFFF"/>
                </a:solidFill>
                <a:latin typeface="Segoe UI"/>
              </a:defRPr>
            </a:pPr>
            <a:r>
              <a:t>1. Rotational Pulse Transduction</a:t>
            </a:r>
          </a:p>
        </p:txBody>
      </p:sp>
      <p:sp>
        <p:nvSpPr>
          <p:cNvPr id="13" name="TextBox 12"/>
          <p:cNvSpPr txBox="1"/>
          <p:nvPr/>
        </p:nvSpPr>
        <p:spPr>
          <a:xfrm>
            <a:off x="685800" y="1828800"/>
            <a:ext cx="3200400" cy="3520440"/>
          </a:xfrm>
          <a:prstGeom prst="rect">
            <a:avLst/>
          </a:prstGeom>
          <a:noFill/>
        </p:spPr>
        <p:txBody>
          <a:bodyPr wrap="square">
            <a:spAutoFit/>
          </a:bodyPr>
          <a:lstStyle/>
          <a:p>
            <a:pPr>
              <a:defRPr sz="1050" b="1">
                <a:solidFill>
                  <a:srgbClr val="0B1B3D"/>
                </a:solidFill>
              </a:defRPr>
            </a:pPr>
            <a:r>
              <a:t>Digital Transduction Concept:</a:t>
            </a:r>
          </a:p>
          <a:p>
            <a:pPr>
              <a:spcBef>
                <a:spcPts val="500"/>
              </a:spcBef>
              <a:defRPr sz="900">
                <a:solidFill>
                  <a:srgbClr val="243B53"/>
                </a:solidFill>
              </a:defRPr>
            </a:pPr>
            <a:r>
              <a:t>• Rotary encoders convert mechanical shaft angle into a discrete train of electrical square pulses.</a:t>
            </a:r>
          </a:p>
          <a:p>
            <a:pPr>
              <a:spcBef>
                <a:spcPts val="500"/>
              </a:spcBef>
              <a:defRPr sz="900">
                <a:solidFill>
                  <a:srgbClr val="243B53"/>
                </a:solidFill>
              </a:defRPr>
            </a:pPr>
            <a:r>
              <a:t>• Unlike analog tachogenerators, digital pulse counting eliminates brush friction, drift, and calibration decay.</a:t>
            </a:r>
          </a:p>
          <a:p>
            <a:pPr>
              <a:spcBef>
                <a:spcPts val="500"/>
              </a:spcBef>
              <a:defRPr sz="900">
                <a:solidFill>
                  <a:srgbClr val="243B53"/>
                </a:solidFill>
              </a:defRPr>
            </a:pPr>
            <a:r>
              <a:t>• The frequency of generated pulses directly corresponds to rotational velocity: f = (RPM × PPR) / 60.</a:t>
            </a:r>
          </a:p>
          <a:p>
            <a:pPr>
              <a:spcBef>
                <a:spcPts val="500"/>
              </a:spcBef>
              <a:defRPr sz="900">
                <a:solidFill>
                  <a:srgbClr val="243B53"/>
                </a:solidFill>
              </a:defRPr>
            </a:pPr>
            <a:r>
              <a:t>• Provides precise digital resolution dependent on encoder pulses per revolution (PPR).</a:t>
            </a:r>
          </a:p>
        </p:txBody>
      </p:sp>
      <p:sp>
        <p:nvSpPr>
          <p:cNvPr id="14" name="Rounded Rectangle 13"/>
          <p:cNvSpPr/>
          <p:nvPr/>
        </p:nvSpPr>
        <p:spPr>
          <a:xfrm>
            <a:off x="4343400" y="1325880"/>
            <a:ext cx="3474720" cy="411480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43400" y="1325880"/>
            <a:ext cx="347472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362456"/>
            <a:ext cx="3200400" cy="347472"/>
          </a:xfrm>
          <a:prstGeom prst="rect">
            <a:avLst/>
          </a:prstGeom>
          <a:noFill/>
        </p:spPr>
        <p:txBody>
          <a:bodyPr wrap="none" lIns="0" tIns="0" rIns="0" bIns="0">
            <a:spAutoFit/>
          </a:bodyPr>
          <a:lstStyle/>
          <a:p>
            <a:pPr algn="l">
              <a:defRPr sz="1050" b="1">
                <a:solidFill>
                  <a:srgbClr val="FFFFFF"/>
                </a:solidFill>
                <a:latin typeface="Segoe UI"/>
              </a:defRPr>
            </a:pPr>
            <a:r>
              <a:t>2. STM32 Controller Architecture</a:t>
            </a:r>
          </a:p>
        </p:txBody>
      </p:sp>
      <p:sp>
        <p:nvSpPr>
          <p:cNvPr id="17" name="TextBox 16"/>
          <p:cNvSpPr txBox="1"/>
          <p:nvPr/>
        </p:nvSpPr>
        <p:spPr>
          <a:xfrm>
            <a:off x="4480560" y="1828800"/>
            <a:ext cx="3200400" cy="3520440"/>
          </a:xfrm>
          <a:prstGeom prst="rect">
            <a:avLst/>
          </a:prstGeom>
          <a:noFill/>
        </p:spPr>
        <p:txBody>
          <a:bodyPr wrap="square">
            <a:spAutoFit/>
          </a:bodyPr>
          <a:lstStyle/>
          <a:p>
            <a:pPr>
              <a:defRPr sz="1050" b="1">
                <a:solidFill>
                  <a:srgbClr val="0B1B3D"/>
                </a:solidFill>
              </a:defRPr>
            </a:pPr>
            <a:r>
              <a:t>Timer &amp; Processing Architecture:</a:t>
            </a:r>
          </a:p>
          <a:p>
            <a:pPr>
              <a:spcBef>
                <a:spcPts val="500"/>
              </a:spcBef>
              <a:defRPr sz="900">
                <a:solidFill>
                  <a:srgbClr val="243B53"/>
                </a:solidFill>
              </a:defRPr>
            </a:pPr>
            <a:r>
              <a:t>• Models STM32 hardware Timer (TIMx) running in Input Capture / External Counter mode.</a:t>
            </a:r>
          </a:p>
          <a:p>
            <a:pPr>
              <a:spcBef>
                <a:spcPts val="500"/>
              </a:spcBef>
              <a:defRPr sz="900">
                <a:solidFill>
                  <a:srgbClr val="243B53"/>
                </a:solidFill>
              </a:defRPr>
            </a:pPr>
            <a:r>
              <a:t>• Decoupled timekeeping: A dedicated 1.0s periodic timer interrupt dictates the sampling interval (Δt = 1.0 s).</a:t>
            </a:r>
          </a:p>
          <a:p>
            <a:pPr>
              <a:spcBef>
                <a:spcPts val="500"/>
              </a:spcBef>
              <a:defRPr sz="900">
                <a:solidFill>
                  <a:srgbClr val="243B53"/>
                </a:solidFill>
              </a:defRPr>
            </a:pPr>
            <a:r>
              <a:t>• Edge accumulation: Counts incoming pulses (N) non-blockingly during the interval.</a:t>
            </a:r>
          </a:p>
          <a:p>
            <a:pPr>
              <a:spcBef>
                <a:spcPts val="500"/>
              </a:spcBef>
              <a:defRPr sz="900">
                <a:solidFill>
                  <a:srgbClr val="243B53"/>
                </a:solidFill>
              </a:defRPr>
            </a:pPr>
            <a:r>
              <a:t>• Firmware engine computes instantaneous RPM and derives SI Angular Velocity (ω in rad/s).</a:t>
            </a:r>
          </a:p>
          <a:p>
            <a:pPr>
              <a:spcBef>
                <a:spcPts val="500"/>
              </a:spcBef>
              <a:defRPr sz="900">
                <a:solidFill>
                  <a:srgbClr val="243B53"/>
                </a:solidFill>
              </a:defRPr>
            </a:pPr>
            <a:r>
              <a:t>• Division-by-zero protection ensures robust handling of stopped motor conditions.</a:t>
            </a:r>
          </a:p>
        </p:txBody>
      </p:sp>
      <p:sp>
        <p:nvSpPr>
          <p:cNvPr id="18" name="Rounded Rectangle 17"/>
          <p:cNvSpPr/>
          <p:nvPr/>
        </p:nvSpPr>
        <p:spPr>
          <a:xfrm>
            <a:off x="8138160" y="1325880"/>
            <a:ext cx="3474720" cy="411480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8160" y="1325880"/>
            <a:ext cx="3474720" cy="420624"/>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362456"/>
            <a:ext cx="3200400" cy="347472"/>
          </a:xfrm>
          <a:prstGeom prst="rect">
            <a:avLst/>
          </a:prstGeom>
          <a:noFill/>
        </p:spPr>
        <p:txBody>
          <a:bodyPr wrap="none" lIns="0" tIns="0" rIns="0" bIns="0">
            <a:spAutoFit/>
          </a:bodyPr>
          <a:lstStyle/>
          <a:p>
            <a:pPr algn="l">
              <a:defRPr sz="1050" b="1">
                <a:solidFill>
                  <a:srgbClr val="FFFFFF"/>
                </a:solidFill>
                <a:latin typeface="Segoe UI"/>
              </a:defRPr>
            </a:pPr>
            <a:r>
              <a:t>3. Software Simulation Scope</a:t>
            </a:r>
          </a:p>
        </p:txBody>
      </p:sp>
      <p:sp>
        <p:nvSpPr>
          <p:cNvPr id="21" name="TextBox 20"/>
          <p:cNvSpPr txBox="1"/>
          <p:nvPr/>
        </p:nvSpPr>
        <p:spPr>
          <a:xfrm>
            <a:off x="8275320" y="1828800"/>
            <a:ext cx="3200400" cy="3520440"/>
          </a:xfrm>
          <a:prstGeom prst="rect">
            <a:avLst/>
          </a:prstGeom>
          <a:noFill/>
        </p:spPr>
        <p:txBody>
          <a:bodyPr wrap="square">
            <a:spAutoFit/>
          </a:bodyPr>
          <a:lstStyle/>
          <a:p>
            <a:pPr>
              <a:defRPr sz="1050" b="1">
                <a:solidFill>
                  <a:srgbClr val="0B1B3D"/>
                </a:solidFill>
              </a:defRPr>
            </a:pPr>
            <a:r>
              <a:t>Verification &amp; Laboratory Scope:</a:t>
            </a:r>
          </a:p>
          <a:p>
            <a:pPr>
              <a:spcBef>
                <a:spcPts val="500"/>
              </a:spcBef>
              <a:defRPr sz="900">
                <a:solidFill>
                  <a:srgbClr val="243B53"/>
                </a:solidFill>
              </a:defRPr>
            </a:pPr>
            <a:r>
              <a:t>• Implementation Status: Strictly software simulation using discrete modeling &amp; Python validation.</a:t>
            </a:r>
          </a:p>
          <a:p>
            <a:pPr>
              <a:spcBef>
                <a:spcPts val="500"/>
              </a:spcBef>
              <a:defRPr sz="900">
                <a:solidFill>
                  <a:srgbClr val="243B53"/>
                </a:solidFill>
              </a:defRPr>
            </a:pPr>
            <a:r>
              <a:t>• Simulates multi-speed motor regimes: 0 RPM (halt), 300 RPM, 600 RPM, and 900 RPM.</a:t>
            </a:r>
          </a:p>
          <a:p>
            <a:pPr>
              <a:spcBef>
                <a:spcPts val="500"/>
              </a:spcBef>
              <a:defRPr sz="900">
                <a:solidFill>
                  <a:srgbClr val="243B53"/>
                </a:solidFill>
              </a:defRPr>
            </a:pPr>
            <a:r>
              <a:t>• Verifies exact mathematical concordance between generated pulses and calculated velocity.</a:t>
            </a:r>
          </a:p>
          <a:p>
            <a:pPr>
              <a:spcBef>
                <a:spcPts val="500"/>
              </a:spcBef>
              <a:defRPr sz="900">
                <a:solidFill>
                  <a:srgbClr val="243B53"/>
                </a:solidFill>
              </a:defRPr>
            </a:pPr>
            <a:r>
              <a:t>• Provides pre-silicon verification of algorithms, quantization boundaries, and timing constraints prior to PCB fabrication.</a:t>
            </a:r>
          </a:p>
        </p:txBody>
      </p:sp>
      <p:sp>
        <p:nvSpPr>
          <p:cNvPr id="22" name="Rounded Rectangle 21"/>
          <p:cNvSpPr/>
          <p:nvPr/>
        </p:nvSpPr>
        <p:spPr>
          <a:xfrm>
            <a:off x="548640" y="5596128"/>
            <a:ext cx="11064240" cy="777240"/>
          </a:xfrm>
          <a:prstGeom prst="roundRect">
            <a:avLst/>
          </a:prstGeom>
          <a:solidFill>
            <a:srgbClr val="EBF8F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lIns="137160" tIns="73152" rtlCol="0" anchor="ctr"/>
          <a:lstStyle/>
          <a:p>
            <a:pPr algn="ctr">
              <a:defRPr sz="1000" b="1">
                <a:solidFill>
                  <a:srgbClr val="0B1B3D"/>
                </a:solidFill>
              </a:defRPr>
            </a:pPr>
            <a:r>
              <a:t>KEY TAKEAWAY: Discrete Edge Counting Yields Drift-Free Velocity Estimation</a:t>
            </a:r>
          </a:p>
          <a:p>
            <a:pPr>
              <a:spcBef>
                <a:spcPts val="200"/>
              </a:spcBef>
              <a:defRPr sz="850">
                <a:solidFill>
                  <a:srgbClr val="243B53"/>
                </a:solidFill>
              </a:defRPr>
            </a:pPr>
            <a:r>
              <a:t>By employing an STM32 timer model to accumulate encoder pulses over a deterministic 1-second sampling window, the system calculates both rotational speed (RPM) and angular velocity (rad/s) with zero theoretical error under discrete simulation.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032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969496"/>
          </a:xfrm>
          <a:prstGeom prst="rect">
            <a:avLst/>
          </a:prstGeom>
          <a:noFill/>
        </p:spPr>
        <p:txBody>
          <a:bodyPr wrap="square" lIns="0" tIns="0" rIns="0" bIns="0">
            <a:spAutoFit/>
          </a:bodyPr>
          <a:lstStyle/>
          <a:p>
            <a:pPr>
              <a:defRPr sz="2100" b="1">
                <a:solidFill>
                  <a:srgbClr val="FFFFFF"/>
                </a:solidFill>
                <a:latin typeface="Segoe UI"/>
              </a:defRPr>
            </a:pPr>
            <a:r>
              <a:rPr dirty="0"/>
              <a:t>Problem Statement </a:t>
            </a:r>
            <a:br>
              <a:rPr lang="en-US" dirty="0"/>
            </a:br>
            <a:r>
              <a:rPr dirty="0"/>
              <a:t>The Critical Need for Real-Time Automated Speed Measurement in Motor Monitoring &amp; Automation</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rPr dirty="0"/>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325880"/>
            <a:ext cx="5394960" cy="411480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325880"/>
            <a:ext cx="539496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Limitations of Conventional Rotational Measurement</a:t>
            </a:r>
          </a:p>
        </p:txBody>
      </p:sp>
      <p:sp>
        <p:nvSpPr>
          <p:cNvPr id="13" name="TextBox 12"/>
          <p:cNvSpPr txBox="1"/>
          <p:nvPr/>
        </p:nvSpPr>
        <p:spPr>
          <a:xfrm>
            <a:off x="731520" y="1828800"/>
            <a:ext cx="5029200" cy="3520440"/>
          </a:xfrm>
          <a:prstGeom prst="rect">
            <a:avLst/>
          </a:prstGeom>
          <a:noFill/>
        </p:spPr>
        <p:txBody>
          <a:bodyPr wrap="square">
            <a:spAutoFit/>
          </a:bodyPr>
          <a:lstStyle/>
          <a:p>
            <a:pPr>
              <a:spcBef>
                <a:spcPts val="0"/>
              </a:spcBef>
              <a:defRPr sz="950" b="1">
                <a:solidFill>
                  <a:srgbClr val="0B1B3D"/>
                </a:solidFill>
              </a:defRPr>
            </a:pPr>
            <a:r>
              <a:t>• Manual &amp; Stroboscopic Inconvenience:</a:t>
            </a:r>
          </a:p>
          <a:p>
            <a:pPr>
              <a:spcBef>
                <a:spcPts val="100"/>
              </a:spcBef>
              <a:defRPr sz="850">
                <a:solidFill>
                  <a:srgbClr val="243B53"/>
                </a:solidFill>
              </a:defRPr>
            </a:pPr>
            <a:r>
              <a:t>  Handheld optical or contact tachometers require human intervention, direct line-of-sight, and manual trigger operation, making them unfeasible for continuous 24/7 automation.</a:t>
            </a:r>
          </a:p>
          <a:p>
            <a:pPr>
              <a:spcBef>
                <a:spcPts val="500"/>
              </a:spcBef>
              <a:defRPr sz="950" b="1">
                <a:solidFill>
                  <a:srgbClr val="0B1B3D"/>
                </a:solidFill>
              </a:defRPr>
            </a:pPr>
            <a:r>
              <a:t>• Mechanical &amp; Wear Vulnerabilities:</a:t>
            </a:r>
          </a:p>
          <a:p>
            <a:pPr>
              <a:spcBef>
                <a:spcPts val="100"/>
              </a:spcBef>
              <a:defRPr sz="850">
                <a:solidFill>
                  <a:srgbClr val="243B53"/>
                </a:solidFill>
              </a:defRPr>
            </a:pPr>
            <a:r>
              <a:t>  Analog DC tachogenerators rely on mechanical brushes and slip-rings that cause electrical sparking, mechanical drag, contact friction, and calibration drift over operating life.</a:t>
            </a:r>
          </a:p>
          <a:p>
            <a:pPr>
              <a:spcBef>
                <a:spcPts val="500"/>
              </a:spcBef>
              <a:defRPr sz="950" b="1">
                <a:solidFill>
                  <a:srgbClr val="0B1B3D"/>
                </a:solidFill>
              </a:defRPr>
            </a:pPr>
            <a:r>
              <a:t>• Analog Noise &amp; Conversion Latency:</a:t>
            </a:r>
          </a:p>
          <a:p>
            <a:pPr>
              <a:spcBef>
                <a:spcPts val="100"/>
              </a:spcBef>
              <a:defRPr sz="850">
                <a:solidFill>
                  <a:srgbClr val="243B53"/>
                </a:solidFill>
              </a:defRPr>
            </a:pPr>
            <a:r>
              <a:t>  Analog voltage signals require low-pass filtering, signal amplification, and ADC conversion, introducing signal latency and vulnerability to electromagnetic interference (EMI).</a:t>
            </a:r>
          </a:p>
          <a:p>
            <a:pPr>
              <a:spcBef>
                <a:spcPts val="500"/>
              </a:spcBef>
              <a:defRPr sz="950" b="1">
                <a:solidFill>
                  <a:srgbClr val="0B1B3D"/>
                </a:solidFill>
              </a:defRPr>
            </a:pPr>
            <a:r>
              <a:t>• Lack of Integrated SI Velocity Estimation:</a:t>
            </a:r>
          </a:p>
          <a:p>
            <a:pPr>
              <a:spcBef>
                <a:spcPts val="100"/>
              </a:spcBef>
              <a:defRPr sz="850">
                <a:solidFill>
                  <a:srgbClr val="243B53"/>
                </a:solidFill>
              </a:defRPr>
            </a:pPr>
            <a:r>
              <a:t>  Most rudimentary tachometers output only crude RPM indicators without deriving instantaneous angular velocity (rad/s) necessary for modern robotic and kinematic controls.</a:t>
            </a:r>
          </a:p>
        </p:txBody>
      </p:sp>
      <p:sp>
        <p:nvSpPr>
          <p:cNvPr id="18" name="Rectangle 17"/>
          <p:cNvSpPr/>
          <p:nvPr/>
        </p:nvSpPr>
        <p:spPr>
          <a:xfrm>
            <a:off x="548640" y="5596128"/>
            <a:ext cx="11064240" cy="777240"/>
          </a:xfrm>
          <a:prstGeom prst="rect">
            <a:avLst/>
          </a:prstGeom>
          <a:solidFill>
            <a:srgbClr val="0B1B3D"/>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tIns="137160" rtlCol="0" anchor="ctr"/>
          <a:lstStyle/>
          <a:p>
            <a:pPr algn="ctr">
              <a:defRPr sz="950" b="1">
                <a:solidFill>
                  <a:srgbClr val="00E5FF"/>
                </a:solidFill>
                <a:latin typeface="Segoe UI"/>
              </a:defRPr>
            </a:pPr>
            <a:r>
              <a:t>INDUSTRIAL APPLICATION DOMAIN: Motor Speed Monitoring  •  Robotics Joint Actuators  •  Automated Conveyors  •  Pump Telemetry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Aim &amp; Technical Objectives</a:t>
            </a:r>
          </a:p>
          <a:p>
            <a:pPr>
              <a:spcBef>
                <a:spcPts val="300"/>
              </a:spcBef>
              <a:defRPr sz="1100">
                <a:solidFill>
                  <a:srgbClr val="00E5FF"/>
                </a:solidFill>
                <a:latin typeface="Segoe UI"/>
              </a:defRPr>
            </a:pPr>
            <a:r>
              <a:t>Formal Scope of Laboratory Experiment 11 — Digital Tachometer Simulation</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234440"/>
            <a:ext cx="11064240" cy="1051560"/>
          </a:xfrm>
          <a:prstGeom prst="roundRect">
            <a:avLst/>
          </a:prstGeom>
          <a:solidFill>
            <a:srgbClr val="0B1B3D"/>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lIns="182880" tIns="109728" rtlCol="0" anchor="ctr"/>
          <a:lstStyle/>
          <a:p>
            <a:pPr algn="ctr">
              <a:defRPr sz="1100" b="1">
                <a:solidFill>
                  <a:srgbClr val="00E5FF"/>
                </a:solidFill>
                <a:latin typeface="Segoe UI"/>
              </a:defRPr>
            </a:pPr>
            <a:r>
              <a:t>PRIMARY PROJECT AIM:</a:t>
            </a:r>
          </a:p>
          <a:p>
            <a:pPr>
              <a:spcBef>
                <a:spcPts val="300"/>
              </a:spcBef>
              <a:defRPr sz="1000">
                <a:solidFill>
                  <a:srgbClr val="FFFFFF"/>
                </a:solidFill>
                <a:latin typeface="Segoe UI"/>
              </a:defRPr>
            </a:pPr>
            <a:r>
              <a:t>To design, model, and simulate a digital tachometer system capable of estimating motor rotational speed (RPM) and physical angular velocity (ω in rad/s) from incremental rotary encoder pulse data using an STM32 microcontroller-based architecture model under discrete-time sampling.</a:t>
            </a:r>
          </a:p>
        </p:txBody>
      </p:sp>
      <p:sp>
        <p:nvSpPr>
          <p:cNvPr id="11" name="Rounded Rectangle 10"/>
          <p:cNvSpPr/>
          <p:nvPr/>
        </p:nvSpPr>
        <p:spPr>
          <a:xfrm>
            <a:off x="548640" y="2423160"/>
            <a:ext cx="3520440" cy="1874519"/>
          </a:xfrm>
          <a:prstGeom prst="roundRect">
            <a:avLst/>
          </a:prstGeom>
          <a:solidFill>
            <a:srgbClr val="F0F4F8"/>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2423160"/>
            <a:ext cx="3520440" cy="384048"/>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l">
              <a:defRPr sz="950" b="1">
                <a:solidFill>
                  <a:srgbClr val="FFFFFF"/>
                </a:solidFill>
                <a:latin typeface="Segoe UI"/>
              </a:defRPr>
            </a:pPr>
            <a:r>
              <a:t>Objective 1: Pulse Generation Model</a:t>
            </a:r>
          </a:p>
        </p:txBody>
      </p:sp>
      <p:sp>
        <p:nvSpPr>
          <p:cNvPr id="13" name="TextBox 12"/>
          <p:cNvSpPr txBox="1"/>
          <p:nvPr/>
        </p:nvSpPr>
        <p:spPr>
          <a:xfrm>
            <a:off x="658368" y="2862072"/>
            <a:ext cx="3300984" cy="1371599"/>
          </a:xfrm>
          <a:prstGeom prst="rect">
            <a:avLst/>
          </a:prstGeom>
          <a:noFill/>
        </p:spPr>
        <p:txBody>
          <a:bodyPr wrap="square" lIns="0" tIns="0" rIns="0" bIns="0">
            <a:spAutoFit/>
          </a:bodyPr>
          <a:lstStyle/>
          <a:p>
            <a:pPr>
              <a:defRPr sz="850">
                <a:solidFill>
                  <a:srgbClr val="243B53"/>
                </a:solidFill>
                <a:latin typeface="Segoe UI"/>
              </a:defRPr>
            </a:pPr>
            <a:r>
              <a:t>Generate and model synthetic digital pulse trains corresponding to rotational shaft motion across varying motor velocities with a defined 20 PPR resolution.</a:t>
            </a:r>
          </a:p>
        </p:txBody>
      </p:sp>
      <p:sp>
        <p:nvSpPr>
          <p:cNvPr id="14" name="Rounded Rectangle 13"/>
          <p:cNvSpPr/>
          <p:nvPr/>
        </p:nvSpPr>
        <p:spPr>
          <a:xfrm>
            <a:off x="4343400" y="2423160"/>
            <a:ext cx="3520440" cy="1874519"/>
          </a:xfrm>
          <a:prstGeom prst="roundRect">
            <a:avLst/>
          </a:prstGeom>
          <a:solidFill>
            <a:srgbClr val="F0F4F8"/>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43400" y="2423160"/>
            <a:ext cx="3520440" cy="384048"/>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l">
              <a:defRPr sz="950" b="1">
                <a:solidFill>
                  <a:srgbClr val="FFFFFF"/>
                </a:solidFill>
                <a:latin typeface="Segoe UI"/>
              </a:defRPr>
            </a:pPr>
            <a:r>
              <a:t>Objective 2: Fixed-Interval Pulse Counting</a:t>
            </a:r>
          </a:p>
        </p:txBody>
      </p:sp>
      <p:sp>
        <p:nvSpPr>
          <p:cNvPr id="16" name="TextBox 15"/>
          <p:cNvSpPr txBox="1"/>
          <p:nvPr/>
        </p:nvSpPr>
        <p:spPr>
          <a:xfrm>
            <a:off x="4453128" y="2862072"/>
            <a:ext cx="3300984" cy="1371599"/>
          </a:xfrm>
          <a:prstGeom prst="rect">
            <a:avLst/>
          </a:prstGeom>
          <a:noFill/>
        </p:spPr>
        <p:txBody>
          <a:bodyPr wrap="square" lIns="0" tIns="0" rIns="0" bIns="0">
            <a:spAutoFit/>
          </a:bodyPr>
          <a:lstStyle/>
          <a:p>
            <a:pPr>
              <a:defRPr sz="850">
                <a:solidFill>
                  <a:srgbClr val="243B53"/>
                </a:solidFill>
                <a:latin typeface="Segoe UI"/>
              </a:defRPr>
            </a:pPr>
            <a:r>
              <a:t>Implement an STM32 hardware timer/counter model that deterministically counts rising pulse edges over a specified sampling window (Δt = 1.0 second).</a:t>
            </a:r>
          </a:p>
        </p:txBody>
      </p:sp>
      <p:sp>
        <p:nvSpPr>
          <p:cNvPr id="17" name="Rounded Rectangle 16"/>
          <p:cNvSpPr/>
          <p:nvPr/>
        </p:nvSpPr>
        <p:spPr>
          <a:xfrm>
            <a:off x="8138160" y="2423160"/>
            <a:ext cx="3520440" cy="1874519"/>
          </a:xfrm>
          <a:prstGeom prst="roundRect">
            <a:avLst/>
          </a:prstGeom>
          <a:solidFill>
            <a:srgbClr val="F0F4F8"/>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2423160"/>
            <a:ext cx="3520440" cy="384048"/>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l">
              <a:defRPr sz="950" b="1">
                <a:solidFill>
                  <a:srgbClr val="FFFFFF"/>
                </a:solidFill>
                <a:latin typeface="Segoe UI"/>
              </a:defRPr>
            </a:pPr>
            <a:r>
              <a:t>Objective 3: RPM Calculation Algorithm</a:t>
            </a:r>
          </a:p>
        </p:txBody>
      </p:sp>
      <p:sp>
        <p:nvSpPr>
          <p:cNvPr id="19" name="TextBox 18"/>
          <p:cNvSpPr txBox="1"/>
          <p:nvPr/>
        </p:nvSpPr>
        <p:spPr>
          <a:xfrm>
            <a:off x="8247888" y="2862072"/>
            <a:ext cx="3300984" cy="1371599"/>
          </a:xfrm>
          <a:prstGeom prst="rect">
            <a:avLst/>
          </a:prstGeom>
          <a:noFill/>
        </p:spPr>
        <p:txBody>
          <a:bodyPr wrap="square" lIns="0" tIns="0" rIns="0" bIns="0">
            <a:spAutoFit/>
          </a:bodyPr>
          <a:lstStyle/>
          <a:p>
            <a:pPr>
              <a:defRPr sz="850">
                <a:solidFill>
                  <a:srgbClr val="243B53"/>
                </a:solidFill>
                <a:latin typeface="Segoe UI"/>
              </a:defRPr>
            </a:pPr>
            <a:r>
              <a:t>Develop and verify the discrete mathematical conversion algorithm to calculate Revolutions Per Minute (RPM) from accumulated pulse count N and PPR.</a:t>
            </a:r>
          </a:p>
        </p:txBody>
      </p:sp>
      <p:sp>
        <p:nvSpPr>
          <p:cNvPr id="20" name="Rounded Rectangle 19"/>
          <p:cNvSpPr/>
          <p:nvPr/>
        </p:nvSpPr>
        <p:spPr>
          <a:xfrm>
            <a:off x="548640" y="4434840"/>
            <a:ext cx="3520440" cy="1874519"/>
          </a:xfrm>
          <a:prstGeom prst="roundRect">
            <a:avLst/>
          </a:prstGeom>
          <a:solidFill>
            <a:srgbClr val="F0F4F8"/>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434840"/>
            <a:ext cx="3520440" cy="384048"/>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l">
              <a:defRPr sz="950" b="1">
                <a:solidFill>
                  <a:srgbClr val="FFFFFF"/>
                </a:solidFill>
                <a:latin typeface="Segoe UI"/>
              </a:defRPr>
            </a:pPr>
            <a:r>
              <a:t>Objective 4: Angular Velocity Estimation</a:t>
            </a:r>
          </a:p>
        </p:txBody>
      </p:sp>
      <p:sp>
        <p:nvSpPr>
          <p:cNvPr id="22" name="TextBox 21"/>
          <p:cNvSpPr txBox="1"/>
          <p:nvPr/>
        </p:nvSpPr>
        <p:spPr>
          <a:xfrm>
            <a:off x="658368" y="4873752"/>
            <a:ext cx="3300984" cy="1371599"/>
          </a:xfrm>
          <a:prstGeom prst="rect">
            <a:avLst/>
          </a:prstGeom>
          <a:noFill/>
        </p:spPr>
        <p:txBody>
          <a:bodyPr wrap="square" lIns="0" tIns="0" rIns="0" bIns="0">
            <a:spAutoFit/>
          </a:bodyPr>
          <a:lstStyle/>
          <a:p>
            <a:pPr>
              <a:defRPr sz="850">
                <a:solidFill>
                  <a:srgbClr val="243B53"/>
                </a:solidFill>
                <a:latin typeface="Segoe UI"/>
              </a:defRPr>
            </a:pPr>
            <a:r>
              <a:t>Derive instantaneous physical angular velocity (ω) in standard SI units (radians per second, rad/s) using exact conversion formulations (2π·RPM/60).</a:t>
            </a:r>
          </a:p>
        </p:txBody>
      </p:sp>
      <p:sp>
        <p:nvSpPr>
          <p:cNvPr id="23" name="Rounded Rectangle 22"/>
          <p:cNvSpPr/>
          <p:nvPr/>
        </p:nvSpPr>
        <p:spPr>
          <a:xfrm>
            <a:off x="4343400" y="4434840"/>
            <a:ext cx="3520440" cy="1874519"/>
          </a:xfrm>
          <a:prstGeom prst="roundRect">
            <a:avLst/>
          </a:prstGeom>
          <a:solidFill>
            <a:srgbClr val="F0F4F8"/>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43400" y="4434840"/>
            <a:ext cx="3520440" cy="384048"/>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l">
              <a:defRPr sz="950" b="1">
                <a:solidFill>
                  <a:srgbClr val="FFFFFF"/>
                </a:solidFill>
                <a:latin typeface="Segoe UI"/>
              </a:defRPr>
            </a:pPr>
            <a:r>
              <a:t>Objective 5: Virtual Telemetry Interface</a:t>
            </a:r>
          </a:p>
        </p:txBody>
      </p:sp>
      <p:sp>
        <p:nvSpPr>
          <p:cNvPr id="25" name="TextBox 24"/>
          <p:cNvSpPr txBox="1"/>
          <p:nvPr/>
        </p:nvSpPr>
        <p:spPr>
          <a:xfrm>
            <a:off x="4453128" y="4873752"/>
            <a:ext cx="3300984" cy="1371599"/>
          </a:xfrm>
          <a:prstGeom prst="rect">
            <a:avLst/>
          </a:prstGeom>
          <a:noFill/>
        </p:spPr>
        <p:txBody>
          <a:bodyPr wrap="square" lIns="0" tIns="0" rIns="0" bIns="0">
            <a:spAutoFit/>
          </a:bodyPr>
          <a:lstStyle/>
          <a:p>
            <a:pPr>
              <a:defRPr sz="850">
                <a:solidFill>
                  <a:srgbClr val="243B53"/>
                </a:solidFill>
                <a:latin typeface="Segoe UI"/>
              </a:defRPr>
            </a:pPr>
            <a:r>
              <a:t>Format and display simulated measurement outputs via a serial-terminal-style dashboard log and time-series telemetry plots for real-time monitoring.</a:t>
            </a:r>
          </a:p>
        </p:txBody>
      </p:sp>
      <p:sp>
        <p:nvSpPr>
          <p:cNvPr id="26" name="Rounded Rectangle 25"/>
          <p:cNvSpPr/>
          <p:nvPr/>
        </p:nvSpPr>
        <p:spPr>
          <a:xfrm>
            <a:off x="8138160" y="4434840"/>
            <a:ext cx="3520440" cy="1874519"/>
          </a:xfrm>
          <a:prstGeom prst="roundRect">
            <a:avLst/>
          </a:prstGeom>
          <a:solidFill>
            <a:srgbClr val="F0F4F8"/>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60" y="4434840"/>
            <a:ext cx="3520440" cy="384048"/>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tIns="36576" rtlCol="0" anchor="ctr"/>
          <a:lstStyle/>
          <a:p>
            <a:pPr algn="l">
              <a:defRPr sz="950" b="1">
                <a:solidFill>
                  <a:srgbClr val="FFFFFF"/>
                </a:solidFill>
                <a:latin typeface="Segoe UI"/>
              </a:defRPr>
            </a:pPr>
            <a:r>
              <a:t>Objective 6: Multi-Speed Model Benchmarking</a:t>
            </a:r>
          </a:p>
        </p:txBody>
      </p:sp>
      <p:sp>
        <p:nvSpPr>
          <p:cNvPr id="28" name="TextBox 27"/>
          <p:cNvSpPr txBox="1"/>
          <p:nvPr/>
        </p:nvSpPr>
        <p:spPr>
          <a:xfrm>
            <a:off x="8247888" y="4873752"/>
            <a:ext cx="3300984" cy="1371599"/>
          </a:xfrm>
          <a:prstGeom prst="rect">
            <a:avLst/>
          </a:prstGeom>
          <a:noFill/>
        </p:spPr>
        <p:txBody>
          <a:bodyPr wrap="square" lIns="0" tIns="0" rIns="0" bIns="0">
            <a:spAutoFit/>
          </a:bodyPr>
          <a:lstStyle/>
          <a:p>
            <a:pPr>
              <a:defRPr sz="850">
                <a:solidFill>
                  <a:srgbClr val="243B53"/>
                </a:solidFill>
                <a:latin typeface="Segoe UI"/>
              </a:defRPr>
            </a:pPr>
            <a:r>
              <a:t>Evaluate and validate the algorithmic calculation pipeline across diverse simulated motor operating points: 0 RPM (stopped), 300 RPM, 600 RPM, and 900 RPM.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System Architecture &amp; Signal Flow</a:t>
            </a:r>
          </a:p>
          <a:p>
            <a:pPr>
              <a:spcBef>
                <a:spcPts val="300"/>
              </a:spcBef>
              <a:defRPr sz="1100">
                <a:solidFill>
                  <a:srgbClr val="00E5FF"/>
                </a:solidFill>
                <a:latin typeface="Segoe UI"/>
              </a:defRPr>
            </a:pPr>
            <a:r>
              <a:t>Modular Software Simulation Pipeline: Transduction, Timing, Calculation, &amp; Telemetry</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pic>
        <p:nvPicPr>
          <p:cNvPr id="10" name="Picture 9" descr="slide5_architecture_diagram.png"/>
          <p:cNvPicPr>
            <a:picLocks noChangeAspect="1"/>
          </p:cNvPicPr>
          <p:nvPr/>
        </p:nvPicPr>
        <p:blipFill>
          <a:blip r:embed="rId3"/>
          <a:stretch>
            <a:fillRect/>
          </a:stretch>
        </p:blipFill>
        <p:spPr>
          <a:xfrm>
            <a:off x="548640" y="1234440"/>
            <a:ext cx="11064240" cy="2651760"/>
          </a:xfrm>
          <a:prstGeom prst="rect">
            <a:avLst/>
          </a:prstGeom>
        </p:spPr>
      </p:pic>
      <p:sp>
        <p:nvSpPr>
          <p:cNvPr id="11" name="Rounded Rectangle 10"/>
          <p:cNvSpPr/>
          <p:nvPr/>
        </p:nvSpPr>
        <p:spPr>
          <a:xfrm>
            <a:off x="548640" y="4069080"/>
            <a:ext cx="3520440" cy="233172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069080"/>
            <a:ext cx="352044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105656"/>
            <a:ext cx="3246120" cy="347472"/>
          </a:xfrm>
          <a:prstGeom prst="rect">
            <a:avLst/>
          </a:prstGeom>
          <a:noFill/>
        </p:spPr>
        <p:txBody>
          <a:bodyPr wrap="none" lIns="0" tIns="0" rIns="0" bIns="0">
            <a:spAutoFit/>
          </a:bodyPr>
          <a:lstStyle/>
          <a:p>
            <a:pPr algn="l">
              <a:defRPr sz="1050" b="1">
                <a:solidFill>
                  <a:srgbClr val="FFFFFF"/>
                </a:solidFill>
                <a:latin typeface="Segoe UI"/>
              </a:defRPr>
            </a:pPr>
            <a:r>
              <a:t>Stage A: Motion &amp; Transduction</a:t>
            </a:r>
          </a:p>
        </p:txBody>
      </p:sp>
      <p:sp>
        <p:nvSpPr>
          <p:cNvPr id="14" name="TextBox 13"/>
          <p:cNvSpPr txBox="1"/>
          <p:nvPr/>
        </p:nvSpPr>
        <p:spPr>
          <a:xfrm>
            <a:off x="685800" y="4572000"/>
            <a:ext cx="3246120" cy="1737360"/>
          </a:xfrm>
          <a:prstGeom prst="rect">
            <a:avLst/>
          </a:prstGeom>
          <a:noFill/>
        </p:spPr>
        <p:txBody>
          <a:bodyPr wrap="square">
            <a:spAutoFit/>
          </a:bodyPr>
          <a:lstStyle/>
          <a:p>
            <a:pPr>
              <a:spcBef>
                <a:spcPts val="0"/>
              </a:spcBef>
              <a:defRPr sz="850">
                <a:solidFill>
                  <a:srgbClr val="243B53"/>
                </a:solidFill>
              </a:defRPr>
            </a:pPr>
            <a:r>
              <a:t>• Simulated Motor: Software speed generator producing angular rotation (RPM).</a:t>
            </a:r>
          </a:p>
          <a:p>
            <a:pPr>
              <a:spcBef>
                <a:spcPts val="400"/>
              </a:spcBef>
              <a:defRPr sz="850">
                <a:solidFill>
                  <a:srgbClr val="243B53"/>
                </a:solidFill>
              </a:defRPr>
            </a:pPr>
            <a:r>
              <a:t>• Rotary Encoder Model: Optical disc modeled with 20 pulses per revolution (PPR = 20).</a:t>
            </a:r>
          </a:p>
          <a:p>
            <a:pPr>
              <a:spcBef>
                <a:spcPts val="400"/>
              </a:spcBef>
              <a:defRPr sz="850">
                <a:solidFill>
                  <a:srgbClr val="243B53"/>
                </a:solidFill>
              </a:defRPr>
            </a:pPr>
            <a:r>
              <a:t>• Pulse Frequency Generation: Pulse train frequency is dynamically synthesized as f = (RPM × PPR) / 60 Hz.</a:t>
            </a:r>
          </a:p>
        </p:txBody>
      </p:sp>
      <p:sp>
        <p:nvSpPr>
          <p:cNvPr id="15" name="Rounded Rectangle 14"/>
          <p:cNvSpPr/>
          <p:nvPr/>
        </p:nvSpPr>
        <p:spPr>
          <a:xfrm>
            <a:off x="4343400" y="4069080"/>
            <a:ext cx="3520440" cy="233172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43400" y="4069080"/>
            <a:ext cx="352044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4105656"/>
            <a:ext cx="3246120" cy="347472"/>
          </a:xfrm>
          <a:prstGeom prst="rect">
            <a:avLst/>
          </a:prstGeom>
          <a:noFill/>
        </p:spPr>
        <p:txBody>
          <a:bodyPr wrap="none" lIns="0" tIns="0" rIns="0" bIns="0">
            <a:spAutoFit/>
          </a:bodyPr>
          <a:lstStyle/>
          <a:p>
            <a:pPr algn="l">
              <a:defRPr sz="1050" b="1">
                <a:solidFill>
                  <a:srgbClr val="FFFFFF"/>
                </a:solidFill>
                <a:latin typeface="Segoe UI"/>
              </a:defRPr>
            </a:pPr>
            <a:r>
              <a:t>Stage B: STM32 Timer / Counter Core</a:t>
            </a:r>
          </a:p>
        </p:txBody>
      </p:sp>
      <p:sp>
        <p:nvSpPr>
          <p:cNvPr id="18" name="TextBox 17"/>
          <p:cNvSpPr txBox="1"/>
          <p:nvPr/>
        </p:nvSpPr>
        <p:spPr>
          <a:xfrm>
            <a:off x="4480560" y="4572000"/>
            <a:ext cx="3246120" cy="1737360"/>
          </a:xfrm>
          <a:prstGeom prst="rect">
            <a:avLst/>
          </a:prstGeom>
          <a:noFill/>
        </p:spPr>
        <p:txBody>
          <a:bodyPr wrap="square">
            <a:spAutoFit/>
          </a:bodyPr>
          <a:lstStyle/>
          <a:p>
            <a:pPr>
              <a:spcBef>
                <a:spcPts val="0"/>
              </a:spcBef>
              <a:defRPr sz="850">
                <a:solidFill>
                  <a:srgbClr val="243B53"/>
                </a:solidFill>
              </a:defRPr>
            </a:pPr>
            <a:r>
              <a:t>• TIM2 Asynchronous Counter: Accumulates incoming pulse edges without CPU polling overhead.</a:t>
            </a:r>
          </a:p>
          <a:p>
            <a:pPr>
              <a:spcBef>
                <a:spcPts val="400"/>
              </a:spcBef>
              <a:defRPr sz="850">
                <a:solidFill>
                  <a:srgbClr val="243B53"/>
                </a:solidFill>
              </a:defRPr>
            </a:pPr>
            <a:r>
              <a:t>• TIM3 Periodic Sampling Timer: Triggers an interrupt service routine (ISR) precisely every Δt = 1.0 second.</a:t>
            </a:r>
          </a:p>
          <a:p>
            <a:pPr>
              <a:spcBef>
                <a:spcPts val="400"/>
              </a:spcBef>
              <a:defRPr sz="850">
                <a:solidFill>
                  <a:srgbClr val="243B53"/>
                </a:solidFill>
              </a:defRPr>
            </a:pPr>
            <a:r>
              <a:t>• Atomic Latching: In the ISR, pulse register count N is latched and the hardware counter is reset to zero.</a:t>
            </a:r>
          </a:p>
        </p:txBody>
      </p:sp>
      <p:sp>
        <p:nvSpPr>
          <p:cNvPr id="19" name="Rounded Rectangle 18"/>
          <p:cNvSpPr/>
          <p:nvPr/>
        </p:nvSpPr>
        <p:spPr>
          <a:xfrm>
            <a:off x="8138160" y="4069080"/>
            <a:ext cx="3520440" cy="233172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38160" y="4069080"/>
            <a:ext cx="3520440" cy="420624"/>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5320" y="4105656"/>
            <a:ext cx="3246120" cy="347472"/>
          </a:xfrm>
          <a:prstGeom prst="rect">
            <a:avLst/>
          </a:prstGeom>
          <a:noFill/>
        </p:spPr>
        <p:txBody>
          <a:bodyPr wrap="none" lIns="0" tIns="0" rIns="0" bIns="0">
            <a:spAutoFit/>
          </a:bodyPr>
          <a:lstStyle/>
          <a:p>
            <a:pPr algn="l">
              <a:defRPr sz="1050" b="1">
                <a:solidFill>
                  <a:srgbClr val="FFFFFF"/>
                </a:solidFill>
                <a:latin typeface="Segoe UI"/>
              </a:defRPr>
            </a:pPr>
            <a:r>
              <a:t>Stage C: Velocity Engine &amp; Display</a:t>
            </a:r>
          </a:p>
        </p:txBody>
      </p:sp>
      <p:sp>
        <p:nvSpPr>
          <p:cNvPr id="22" name="TextBox 21"/>
          <p:cNvSpPr txBox="1"/>
          <p:nvPr/>
        </p:nvSpPr>
        <p:spPr>
          <a:xfrm>
            <a:off x="8275320" y="4572000"/>
            <a:ext cx="3246120" cy="1737360"/>
          </a:xfrm>
          <a:prstGeom prst="rect">
            <a:avLst/>
          </a:prstGeom>
          <a:noFill/>
        </p:spPr>
        <p:txBody>
          <a:bodyPr wrap="square">
            <a:spAutoFit/>
          </a:bodyPr>
          <a:lstStyle/>
          <a:p>
            <a:pPr>
              <a:spcBef>
                <a:spcPts val="0"/>
              </a:spcBef>
              <a:defRPr sz="850">
                <a:solidFill>
                  <a:srgbClr val="243B53"/>
                </a:solidFill>
              </a:defRPr>
            </a:pPr>
            <a:r>
              <a:t>• RPM Calculation: Computes RPM = (N / (PPR × Δt)) × 60 with division-by-zero protection.</a:t>
            </a:r>
          </a:p>
          <a:p>
            <a:pPr>
              <a:spcBef>
                <a:spcPts val="400"/>
              </a:spcBef>
              <a:defRPr sz="850">
                <a:solidFill>
                  <a:srgbClr val="243B53"/>
                </a:solidFill>
              </a:defRPr>
            </a:pPr>
            <a:r>
              <a:t>• Angular Velocity: Computes SI velocity ω = 2π × RPM / 60 [rad/s].</a:t>
            </a:r>
          </a:p>
          <a:p>
            <a:pPr>
              <a:spcBef>
                <a:spcPts val="400"/>
              </a:spcBef>
              <a:defRPr sz="850">
                <a:solidFill>
                  <a:srgbClr val="243B53"/>
                </a:solidFill>
              </a:defRPr>
            </a:pPr>
            <a:r>
              <a:t>• Simulated Telemetry: Formats output packets for virtual serial terminal and Matplotlib dashboard visualization.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Hardware &amp; Software Requirements</a:t>
            </a:r>
          </a:p>
          <a:p>
            <a:pPr>
              <a:spcBef>
                <a:spcPts val="300"/>
              </a:spcBef>
              <a:defRPr sz="1100">
                <a:solidFill>
                  <a:srgbClr val="00E5FF"/>
                </a:solidFill>
                <a:latin typeface="Segoe UI"/>
              </a:defRPr>
            </a:pPr>
            <a:r>
              <a:t>Clear Separation Between Proposed Physical Hardware and Actual Simulation Tools</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325880"/>
            <a:ext cx="539496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325880"/>
            <a:ext cx="539496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PROPOSED HARDWARE (FUTURE IMPLEMENTATION)</a:t>
            </a:r>
          </a:p>
        </p:txBody>
      </p:sp>
      <p:sp>
        <p:nvSpPr>
          <p:cNvPr id="13" name="TextBox 12"/>
          <p:cNvSpPr txBox="1"/>
          <p:nvPr/>
        </p:nvSpPr>
        <p:spPr>
          <a:xfrm>
            <a:off x="731520" y="1828800"/>
            <a:ext cx="5029200" cy="4389120"/>
          </a:xfrm>
          <a:prstGeom prst="rect">
            <a:avLst/>
          </a:prstGeom>
          <a:noFill/>
        </p:spPr>
        <p:txBody>
          <a:bodyPr wrap="square">
            <a:spAutoFit/>
          </a:bodyPr>
          <a:lstStyle/>
          <a:p>
            <a:pPr>
              <a:defRPr sz="950" b="1">
                <a:solidFill>
                  <a:srgbClr val="C53030"/>
                </a:solidFill>
              </a:defRPr>
            </a:pPr>
            <a:r>
              <a:t>⚠️ STATUS: PROPOSED DESIGN ONLY (NOT PHYSICALLY ASSEMBLED)</a:t>
            </a:r>
          </a:p>
          <a:p>
            <a:pPr>
              <a:spcBef>
                <a:spcPts val="500"/>
              </a:spcBef>
              <a:defRPr sz="950" b="1">
                <a:solidFill>
                  <a:srgbClr val="0B1B3D"/>
                </a:solidFill>
              </a:defRPr>
            </a:pPr>
            <a:r>
              <a:t>• STM32 Development Board:</a:t>
            </a:r>
          </a:p>
          <a:p>
            <a:pPr>
              <a:spcBef>
                <a:spcPts val="100"/>
              </a:spcBef>
              <a:defRPr sz="850">
                <a:solidFill>
                  <a:srgbClr val="243B53"/>
                </a:solidFill>
              </a:defRPr>
            </a:pPr>
            <a:r>
              <a:t>  Target: STM32F401RE Nucleo-64 (ARM Cortex-M4 @ 84MHz, 3.3V logic, multiple 16/32-bit hardware timers with input capture capabilities).</a:t>
            </a:r>
          </a:p>
          <a:p>
            <a:pPr>
              <a:spcBef>
                <a:spcPts val="500"/>
              </a:spcBef>
              <a:defRPr sz="950" b="1">
                <a:solidFill>
                  <a:srgbClr val="0B1B3D"/>
                </a:solidFill>
              </a:defRPr>
            </a:pPr>
            <a:r>
              <a:t>• Incremental Rotary Encoder:</a:t>
            </a:r>
          </a:p>
          <a:p>
            <a:pPr>
              <a:spcBef>
                <a:spcPts val="100"/>
              </a:spcBef>
              <a:defRPr sz="850">
                <a:solidFill>
                  <a:srgbClr val="243B53"/>
                </a:solidFill>
              </a:defRPr>
            </a:pPr>
            <a:r>
              <a:t>  Target: Optical slotted disc encoder (20 PPR disc with LM393 comparator) or industrial quadrature optical encoder (360/600 CPR).</a:t>
            </a:r>
          </a:p>
          <a:p>
            <a:pPr>
              <a:spcBef>
                <a:spcPts val="500"/>
              </a:spcBef>
              <a:defRPr sz="950" b="1">
                <a:solidFill>
                  <a:srgbClr val="0B1B3D"/>
                </a:solidFill>
              </a:defRPr>
            </a:pPr>
            <a:r>
              <a:t>• DC Motor &amp; Rotating Shaft:</a:t>
            </a:r>
          </a:p>
          <a:p>
            <a:pPr>
              <a:spcBef>
                <a:spcPts val="100"/>
              </a:spcBef>
              <a:defRPr sz="850">
                <a:solidFill>
                  <a:srgbClr val="243B53"/>
                </a:solidFill>
              </a:defRPr>
            </a:pPr>
            <a:r>
              <a:t>  Target: 12V DC brushed/brushless geared motor with metal output shaft, mounting bracket, and mechanical coupling.</a:t>
            </a:r>
          </a:p>
          <a:p>
            <a:pPr>
              <a:spcBef>
                <a:spcPts val="500"/>
              </a:spcBef>
              <a:defRPr sz="950" b="1">
                <a:solidFill>
                  <a:srgbClr val="0B1B3D"/>
                </a:solidFill>
              </a:defRPr>
            </a:pPr>
            <a:r>
              <a:t>• Motor Driver &amp; Power Supply:</a:t>
            </a:r>
          </a:p>
          <a:p>
            <a:pPr>
              <a:spcBef>
                <a:spcPts val="100"/>
              </a:spcBef>
              <a:defRPr sz="850">
                <a:solidFill>
                  <a:srgbClr val="243B53"/>
                </a:solidFill>
              </a:defRPr>
            </a:pPr>
            <a:r>
              <a:t>  Target: L298N dual H-bridge motor driver module with external 12V / 2A regulated DC power adapter.</a:t>
            </a:r>
          </a:p>
          <a:p>
            <a:pPr>
              <a:spcBef>
                <a:spcPts val="500"/>
              </a:spcBef>
              <a:defRPr sz="950" b="1">
                <a:solidFill>
                  <a:srgbClr val="0B1B3D"/>
                </a:solidFill>
              </a:defRPr>
            </a:pPr>
            <a:r>
              <a:t>• Display &amp; Signal Interconnects:</a:t>
            </a:r>
          </a:p>
          <a:p>
            <a:pPr>
              <a:spcBef>
                <a:spcPts val="100"/>
              </a:spcBef>
              <a:defRPr sz="850">
                <a:solidFill>
                  <a:srgbClr val="243B53"/>
                </a:solidFill>
              </a:defRPr>
            </a:pPr>
            <a:r>
              <a:t>  Target: 16×2 character LCD (I2C interface) or 0.96-inch SSD1306 OLED display, breadboard, optocoupler isolation board, and jumper wires.</a:t>
            </a:r>
          </a:p>
        </p:txBody>
      </p:sp>
      <p:sp>
        <p:nvSpPr>
          <p:cNvPr id="14" name="Rounded Rectangle 13"/>
          <p:cNvSpPr/>
          <p:nvPr/>
        </p:nvSpPr>
        <p:spPr>
          <a:xfrm>
            <a:off x="6217920" y="1325880"/>
            <a:ext cx="539496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325880"/>
            <a:ext cx="539496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SIMULATION TOOLS &amp; ENVIRONMENT (ACTUALLY USED)</a:t>
            </a:r>
          </a:p>
        </p:txBody>
      </p:sp>
      <p:sp>
        <p:nvSpPr>
          <p:cNvPr id="17" name="TextBox 16"/>
          <p:cNvSpPr txBox="1"/>
          <p:nvPr/>
        </p:nvSpPr>
        <p:spPr>
          <a:xfrm>
            <a:off x="6400800" y="1828800"/>
            <a:ext cx="5029200" cy="4389120"/>
          </a:xfrm>
          <a:prstGeom prst="rect">
            <a:avLst/>
          </a:prstGeom>
          <a:noFill/>
        </p:spPr>
        <p:txBody>
          <a:bodyPr wrap="square">
            <a:spAutoFit/>
          </a:bodyPr>
          <a:lstStyle/>
          <a:p>
            <a:pPr>
              <a:defRPr sz="950" b="1">
                <a:solidFill>
                  <a:srgbClr val="28A745"/>
                </a:solidFill>
              </a:defRPr>
            </a:pPr>
            <a:r>
              <a:t>✔ STATUS: SOFTWARE ENVIRONMENT USED FOR MODELING &amp; EVALUATION</a:t>
            </a:r>
          </a:p>
          <a:p>
            <a:pPr>
              <a:spcBef>
                <a:spcPts val="500"/>
              </a:spcBef>
              <a:defRPr sz="950" b="1">
                <a:solidFill>
                  <a:srgbClr val="0B1B3D"/>
                </a:solidFill>
              </a:defRPr>
            </a:pPr>
            <a:r>
              <a:t>✔ STM32CubeIDE / STM32CubeMX:</a:t>
            </a:r>
          </a:p>
          <a:p>
            <a:pPr>
              <a:spcBef>
                <a:spcPts val="100"/>
              </a:spcBef>
              <a:defRPr sz="850">
                <a:solidFill>
                  <a:srgbClr val="243B53"/>
                </a:solidFill>
              </a:defRPr>
            </a:pPr>
            <a:r>
              <a:t>  Used for architectural peripheral planning: configuring TIM2 external clock input, TIM3 1Hz periodic interrupt prescalers, and HAL C firmware structuring.</a:t>
            </a:r>
          </a:p>
          <a:p>
            <a:pPr>
              <a:spcBef>
                <a:spcPts val="500"/>
              </a:spcBef>
              <a:defRPr sz="950" b="1">
                <a:solidFill>
                  <a:srgbClr val="0B1B3D"/>
                </a:solidFill>
              </a:defRPr>
            </a:pPr>
            <a:r>
              <a:t>✔ Software Simulation Environment:</a:t>
            </a:r>
          </a:p>
          <a:p>
            <a:pPr>
              <a:spcBef>
                <a:spcPts val="100"/>
              </a:spcBef>
              <a:defRPr sz="850">
                <a:solidFill>
                  <a:srgbClr val="243B53"/>
                </a:solidFill>
              </a:defRPr>
            </a:pPr>
            <a:r>
              <a:t>  Executed discrete-time pulse counting and state-machine simulation modeling STM32 timer register capture and update events.</a:t>
            </a:r>
          </a:p>
          <a:p>
            <a:pPr>
              <a:spcBef>
                <a:spcPts val="500"/>
              </a:spcBef>
              <a:defRPr sz="950" b="1">
                <a:solidFill>
                  <a:srgbClr val="0B1B3D"/>
                </a:solidFill>
              </a:defRPr>
            </a:pPr>
            <a:r>
              <a:t>✔ Python 3.14 &amp; NumPy:</a:t>
            </a:r>
          </a:p>
          <a:p>
            <a:pPr>
              <a:spcBef>
                <a:spcPts val="100"/>
              </a:spcBef>
              <a:defRPr sz="850">
                <a:solidFill>
                  <a:srgbClr val="243B53"/>
                </a:solidFill>
              </a:defRPr>
            </a:pPr>
            <a:r>
              <a:t>  Used for numerical pulse train synthesis, discrete sampling emulation, and verifying mathematical calculations without hardware noise.</a:t>
            </a:r>
          </a:p>
          <a:p>
            <a:pPr>
              <a:spcBef>
                <a:spcPts val="500"/>
              </a:spcBef>
              <a:defRPr sz="950" b="1">
                <a:solidFill>
                  <a:srgbClr val="0B1B3D"/>
                </a:solidFill>
              </a:defRPr>
            </a:pPr>
            <a:r>
              <a:t>✔ Matplotlib 3.10 Visualization:</a:t>
            </a:r>
          </a:p>
          <a:p>
            <a:pPr>
              <a:spcBef>
                <a:spcPts val="100"/>
              </a:spcBef>
              <a:defRPr sz="850">
                <a:solidFill>
                  <a:srgbClr val="243B53"/>
                </a:solidFill>
              </a:defRPr>
            </a:pPr>
            <a:r>
              <a:t>  Used for plotting digital pulse waveforms, dynamic step response curves (RPM vs. time), and angular velocity tracking graphs.</a:t>
            </a:r>
          </a:p>
          <a:p>
            <a:pPr>
              <a:spcBef>
                <a:spcPts val="500"/>
              </a:spcBef>
              <a:defRPr sz="950" b="1">
                <a:solidFill>
                  <a:srgbClr val="0B1B3D"/>
                </a:solidFill>
              </a:defRPr>
            </a:pPr>
            <a:r>
              <a:t>✔ Simulated Serial Dashboard:</a:t>
            </a:r>
          </a:p>
          <a:p>
            <a:pPr>
              <a:spcBef>
                <a:spcPts val="100"/>
              </a:spcBef>
              <a:defRPr sz="850">
                <a:solidFill>
                  <a:srgbClr val="243B53"/>
                </a:solidFill>
              </a:defRPr>
            </a:pPr>
            <a:r>
              <a:t>  Virtual UART serial-monitor-style telemetry logging capturing timestamps, pulse counts (N), RPM, and angular velocity (ω).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Working Principle &amp; Mathematical Formulations</a:t>
            </a:r>
          </a:p>
          <a:p>
            <a:pPr>
              <a:spcBef>
                <a:spcPts val="300"/>
              </a:spcBef>
              <a:defRPr sz="1100">
                <a:solidFill>
                  <a:srgbClr val="00E5FF"/>
                </a:solidFill>
                <a:latin typeface="Segoe UI"/>
              </a:defRPr>
            </a:pPr>
            <a:r>
              <a:t>Mathematical Modeling of Discrete Pulse Counting, Sampling Window, &amp; SI Velocity Conversion</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325880"/>
            <a:ext cx="539496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325880"/>
            <a:ext cx="539496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Mathematical Formulation &amp; Parameter Definitions</a:t>
            </a:r>
          </a:p>
        </p:txBody>
      </p:sp>
      <p:sp>
        <p:nvSpPr>
          <p:cNvPr id="13" name="TextBox 12"/>
          <p:cNvSpPr txBox="1"/>
          <p:nvPr/>
        </p:nvSpPr>
        <p:spPr>
          <a:xfrm>
            <a:off x="731520" y="1828800"/>
            <a:ext cx="5029200" cy="1463040"/>
          </a:xfrm>
          <a:prstGeom prst="rect">
            <a:avLst/>
          </a:prstGeom>
          <a:noFill/>
        </p:spPr>
        <p:txBody>
          <a:bodyPr wrap="square">
            <a:spAutoFit/>
          </a:bodyPr>
          <a:lstStyle/>
          <a:p>
            <a:pPr>
              <a:defRPr sz="1000" b="1">
                <a:solidFill>
                  <a:srgbClr val="0B1B3D"/>
                </a:solidFill>
              </a:defRPr>
            </a:pPr>
            <a:r>
              <a:t>Mathematical Variables &amp; Nomenclature:</a:t>
            </a:r>
          </a:p>
          <a:p>
            <a:pPr>
              <a:spcBef>
                <a:spcPts val="200"/>
              </a:spcBef>
              <a:defRPr sz="850">
                <a:solidFill>
                  <a:srgbClr val="243B53"/>
                </a:solidFill>
              </a:defRPr>
            </a:pPr>
            <a:r>
              <a:t>• N : Number of discrete pulses counted during sampling interval Δt [pulses]</a:t>
            </a:r>
          </a:p>
          <a:p>
            <a:pPr>
              <a:spcBef>
                <a:spcPts val="200"/>
              </a:spcBef>
              <a:defRPr sz="850">
                <a:solidFill>
                  <a:srgbClr val="243B53"/>
                </a:solidFill>
              </a:defRPr>
            </a:pPr>
            <a:r>
              <a:t>• PPR : Pulses Per Revolution (selected counting convention) [pulses/rev]</a:t>
            </a:r>
          </a:p>
          <a:p>
            <a:pPr>
              <a:spcBef>
                <a:spcPts val="200"/>
              </a:spcBef>
              <a:defRPr sz="850">
                <a:solidFill>
                  <a:srgbClr val="243B53"/>
                </a:solidFill>
              </a:defRPr>
            </a:pPr>
            <a:r>
              <a:t>• Δt : Sampling interval / time gating window [seconds] (Δt = 1.0 s)</a:t>
            </a:r>
          </a:p>
          <a:p>
            <a:pPr>
              <a:spcBef>
                <a:spcPts val="200"/>
              </a:spcBef>
              <a:defRPr sz="850">
                <a:solidFill>
                  <a:srgbClr val="243B53"/>
                </a:solidFill>
              </a:defRPr>
            </a:pPr>
            <a:r>
              <a:t>• RPM : Rotational Speed [Revolutions Per Minute]</a:t>
            </a:r>
          </a:p>
          <a:p>
            <a:pPr>
              <a:spcBef>
                <a:spcPts val="200"/>
              </a:spcBef>
              <a:defRPr sz="850">
                <a:solidFill>
                  <a:srgbClr val="243B53"/>
                </a:solidFill>
              </a:defRPr>
            </a:pPr>
            <a:r>
              <a:t>• ω : Angular Velocity [radians per second, rad/s] (SI unit)</a:t>
            </a:r>
          </a:p>
        </p:txBody>
      </p:sp>
      <p:sp>
        <p:nvSpPr>
          <p:cNvPr id="14" name="Rectangle 13"/>
          <p:cNvSpPr/>
          <p:nvPr/>
        </p:nvSpPr>
        <p:spPr>
          <a:xfrm>
            <a:off x="731520" y="3383280"/>
            <a:ext cx="5029200" cy="1051560"/>
          </a:xfrm>
          <a:prstGeom prst="rect">
            <a:avLst/>
          </a:prstGeom>
          <a:solidFill>
            <a:srgbClr val="EBF8F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lIns="109728" tIns="73152" rtlCol="0" anchor="ctr"/>
          <a:lstStyle/>
          <a:p>
            <a:pPr algn="ctr">
              <a:defRPr sz="900" b="1">
                <a:solidFill>
                  <a:srgbClr val="0B1B3D"/>
                </a:solidFill>
              </a:defRPr>
            </a:pPr>
            <a:r>
              <a:t>EQUATION 1: ROTATIONAL SPEED (RPM)</a:t>
            </a:r>
          </a:p>
          <a:p>
            <a:pPr>
              <a:spcBef>
                <a:spcPts val="200"/>
              </a:spcBef>
              <a:defRPr sz="1200" b="1">
                <a:solidFill>
                  <a:srgbClr val="0B1B3D"/>
                </a:solidFill>
                <a:latin typeface="Consolas"/>
              </a:defRPr>
            </a:pPr>
            <a:r>
              <a:t>RPM = ( N / (PPR × Δt) ) × 60</a:t>
            </a:r>
          </a:p>
          <a:p>
            <a:pPr>
              <a:defRPr sz="800">
                <a:solidFill>
                  <a:srgbClr val="243B53"/>
                </a:solidFill>
              </a:defRPr>
            </a:pPr>
            <a:r>
              <a:t>Converts discrete pulse frequency into revolutions per minute.</a:t>
            </a:r>
          </a:p>
        </p:txBody>
      </p:sp>
      <p:sp>
        <p:nvSpPr>
          <p:cNvPr id="15" name="Rectangle 14"/>
          <p:cNvSpPr/>
          <p:nvPr/>
        </p:nvSpPr>
        <p:spPr>
          <a:xfrm>
            <a:off x="731520" y="4572000"/>
            <a:ext cx="5029200" cy="1143000"/>
          </a:xfrm>
          <a:prstGeom prst="rect">
            <a:avLst/>
          </a:prstGeom>
          <a:solidFill>
            <a:srgbClr val="EBF8F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lIns="109728" tIns="73152" rtlCol="0" anchor="ctr"/>
          <a:lstStyle/>
          <a:p>
            <a:pPr algn="ctr">
              <a:defRPr sz="900" b="1">
                <a:solidFill>
                  <a:srgbClr val="0B1B3D"/>
                </a:solidFill>
              </a:defRPr>
            </a:pPr>
            <a:r>
              <a:t>EQUATION 2: ANGULAR VELOCITY (ω in rad/s)</a:t>
            </a:r>
          </a:p>
          <a:p>
            <a:pPr>
              <a:spcBef>
                <a:spcPts val="200"/>
              </a:spcBef>
              <a:defRPr sz="1000" b="1">
                <a:solidFill>
                  <a:srgbClr val="0B1B3D"/>
                </a:solidFill>
                <a:latin typeface="Consolas"/>
              </a:defRPr>
            </a:pPr>
            <a:r>
              <a:t>ω = (2π × RPM) / 60  =  (2π × N) / (PPR × Δt)</a:t>
            </a:r>
            <a:br/>
            <a:r>
              <a:t>   ≈  0.1047198 × RPM   [rad/s]</a:t>
            </a:r>
          </a:p>
          <a:p>
            <a:pPr>
              <a:defRPr sz="800">
                <a:solidFill>
                  <a:srgbClr val="243B53"/>
                </a:solidFill>
              </a:defRPr>
            </a:pPr>
            <a:r>
              <a:t>Standard SI metric directly applicable for kinematic motion analysis.</a:t>
            </a:r>
          </a:p>
        </p:txBody>
      </p:sp>
      <p:sp>
        <p:nvSpPr>
          <p:cNvPr id="16" name="Rounded Rectangle 15"/>
          <p:cNvSpPr/>
          <p:nvPr/>
        </p:nvSpPr>
        <p:spPr>
          <a:xfrm>
            <a:off x="731520" y="5806440"/>
            <a:ext cx="5029200" cy="411480"/>
          </a:xfrm>
          <a:prstGeom prst="roundRect">
            <a:avLst/>
          </a:prstGeom>
          <a:solidFill>
            <a:srgbClr val="F0F4F8"/>
          </a:solidFill>
          <a:ln>
            <a:solidFill>
              <a:srgbClr val="627D98"/>
            </a:solidFill>
          </a:ln>
        </p:spPr>
        <p:style>
          <a:lnRef idx="1">
            <a:schemeClr val="accent1"/>
          </a:lnRef>
          <a:fillRef idx="3">
            <a:schemeClr val="accent1"/>
          </a:fillRef>
          <a:effectRef idx="2">
            <a:schemeClr val="accent1"/>
          </a:effectRef>
          <a:fontRef idx="minor">
            <a:schemeClr val="lt1"/>
          </a:fontRef>
        </p:style>
        <p:txBody>
          <a:bodyPr tIns="73152" rtlCol="0" anchor="ctr"/>
          <a:lstStyle/>
          <a:p>
            <a:pPr algn="ctr">
              <a:defRPr sz="800" b="1">
                <a:solidFill>
                  <a:srgbClr val="0B1B3D"/>
                </a:solidFill>
              </a:defRPr>
            </a:pPr>
            <a:r>
              <a:t>SI Unit Reference: 1 revolution = 2π radians (≈ 6.283185 rad), 1 min = 60 sec</a:t>
            </a:r>
          </a:p>
        </p:txBody>
      </p:sp>
      <p:sp>
        <p:nvSpPr>
          <p:cNvPr id="17" name="Rounded Rectangle 16"/>
          <p:cNvSpPr/>
          <p:nvPr/>
        </p:nvSpPr>
        <p:spPr>
          <a:xfrm>
            <a:off x="6217920" y="1325880"/>
            <a:ext cx="539496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325880"/>
            <a:ext cx="539496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Quadrature Decoding &amp; Counting Conventions</a:t>
            </a:r>
          </a:p>
        </p:txBody>
      </p:sp>
      <p:sp>
        <p:nvSpPr>
          <p:cNvPr id="20" name="TextBox 19"/>
          <p:cNvSpPr txBox="1"/>
          <p:nvPr/>
        </p:nvSpPr>
        <p:spPr>
          <a:xfrm>
            <a:off x="6400800" y="1828800"/>
            <a:ext cx="5029200" cy="4389120"/>
          </a:xfrm>
          <a:prstGeom prst="rect">
            <a:avLst/>
          </a:prstGeom>
          <a:noFill/>
        </p:spPr>
        <p:txBody>
          <a:bodyPr wrap="square">
            <a:spAutoFit/>
          </a:bodyPr>
          <a:lstStyle/>
          <a:p>
            <a:pPr>
              <a:defRPr sz="1000" b="1">
                <a:solidFill>
                  <a:srgbClr val="0B1B3D"/>
                </a:solidFill>
              </a:defRPr>
            </a:pPr>
            <a:r>
              <a:t>Distinction: Encoder Cycles vs Counted Edges:</a:t>
            </a:r>
          </a:p>
          <a:p>
            <a:pPr>
              <a:spcBef>
                <a:spcPts val="500"/>
              </a:spcBef>
              <a:defRPr sz="900" b="1">
                <a:solidFill>
                  <a:srgbClr val="0B1B3D"/>
                </a:solidFill>
              </a:defRPr>
            </a:pPr>
            <a:r>
              <a:t>• 1x Counting Mode (Single Channel A, Rising Edge):</a:t>
            </a:r>
          </a:p>
          <a:p>
            <a:pPr>
              <a:spcBef>
                <a:spcPts val="100"/>
              </a:spcBef>
              <a:defRPr sz="850">
                <a:solidFill>
                  <a:srgbClr val="243B53"/>
                </a:solidFill>
              </a:defRPr>
            </a:pPr>
            <a:r>
              <a:t>  Counted edges per revolution = 1 × CPR. Only rising edges on channel A are accumulated. PPR in calculation equals optical physical line count (PPR = 20). Used in our primary simulation model.</a:t>
            </a:r>
          </a:p>
          <a:p>
            <a:pPr>
              <a:spcBef>
                <a:spcPts val="500"/>
              </a:spcBef>
              <a:defRPr sz="900" b="1">
                <a:solidFill>
                  <a:srgbClr val="0B1B3D"/>
                </a:solidFill>
              </a:defRPr>
            </a:pPr>
            <a:r>
              <a:t>• 2x Counting Mode (Channel A, Rising + Falling):</a:t>
            </a:r>
          </a:p>
          <a:p>
            <a:pPr>
              <a:spcBef>
                <a:spcPts val="100"/>
              </a:spcBef>
              <a:defRPr sz="850">
                <a:solidFill>
                  <a:srgbClr val="243B53"/>
                </a:solidFill>
              </a:defRPr>
            </a:pPr>
            <a:r>
              <a:t>  Counted edges per revolution = 2 × CPR. Both rising and falling transitions of channel A are captured. The effective PPR in the formula must be doubled (2 × 20 = 40) to prevent 2× speed overestimation.</a:t>
            </a:r>
          </a:p>
          <a:p>
            <a:pPr>
              <a:spcBef>
                <a:spcPts val="500"/>
              </a:spcBef>
              <a:defRPr sz="900" b="1">
                <a:solidFill>
                  <a:srgbClr val="0B1B3D"/>
                </a:solidFill>
              </a:defRPr>
            </a:pPr>
            <a:r>
              <a:t>• 4x Counting Mode (Quadrature Mode: Channels A &amp; B):</a:t>
            </a:r>
          </a:p>
          <a:p>
            <a:pPr>
              <a:spcBef>
                <a:spcPts val="100"/>
              </a:spcBef>
              <a:defRPr sz="850">
                <a:solidFill>
                  <a:srgbClr val="243B53"/>
                </a:solidFill>
              </a:defRPr>
            </a:pPr>
            <a:r>
              <a:t>  Counted edges per revolution = 4 × CPR. All edges of both Channel A and Channel B are captured via STM32 Timer Encoder Mode. Effective PPR = 4 × CPR (80 edges). Divisor must match counted edges.</a:t>
            </a:r>
          </a:p>
          <a:p>
            <a:pPr>
              <a:spcBef>
                <a:spcPts val="500"/>
              </a:spcBef>
              <a:defRPr sz="900" b="1">
                <a:solidFill>
                  <a:srgbClr val="0B1B3D"/>
                </a:solidFill>
              </a:defRPr>
            </a:pPr>
            <a:r>
              <a:t>• Double-Counting Prevention Rule:</a:t>
            </a:r>
          </a:p>
          <a:p>
            <a:pPr>
              <a:spcBef>
                <a:spcPts val="100"/>
              </a:spcBef>
              <a:defRPr sz="850">
                <a:solidFill>
                  <a:srgbClr val="243B53"/>
                </a:solidFill>
              </a:defRPr>
            </a:pPr>
            <a:r>
              <a:t>  CRITICAL: The PPR parameter in the denominator must always match the exact counted edge convention configured in the microcontroller timer to ensure mathematical consistency.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Algorithm &amp; Flowchart Logic</a:t>
            </a:r>
          </a:p>
          <a:p>
            <a:pPr>
              <a:spcBef>
                <a:spcPts val="300"/>
              </a:spcBef>
              <a:defRPr sz="1100">
                <a:solidFill>
                  <a:srgbClr val="00E5FF"/>
                </a:solidFill>
                <a:latin typeface="Segoe UI"/>
              </a:defRPr>
            </a:pPr>
            <a:r>
              <a:t>Periodic Sampling Architecture, Pulse Edge Accumulation, &amp; Zero-Speed Handling</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pic>
        <p:nvPicPr>
          <p:cNvPr id="10" name="Picture 9" descr="slide8_flowchart.png"/>
          <p:cNvPicPr>
            <a:picLocks noChangeAspect="1"/>
          </p:cNvPicPr>
          <p:nvPr/>
        </p:nvPicPr>
        <p:blipFill>
          <a:blip r:embed="rId3"/>
          <a:stretch>
            <a:fillRect/>
          </a:stretch>
        </p:blipFill>
        <p:spPr>
          <a:xfrm>
            <a:off x="548640" y="1234440"/>
            <a:ext cx="4114800" cy="5120640"/>
          </a:xfrm>
          <a:prstGeom prst="rect">
            <a:avLst/>
          </a:prstGeom>
        </p:spPr>
      </p:pic>
      <p:sp>
        <p:nvSpPr>
          <p:cNvPr id="11" name="Rounded Rectangle 10"/>
          <p:cNvSpPr/>
          <p:nvPr/>
        </p:nvSpPr>
        <p:spPr>
          <a:xfrm>
            <a:off x="4846320" y="1234440"/>
            <a:ext cx="6766560" cy="512064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846320" y="1234440"/>
            <a:ext cx="676656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83480" y="1271016"/>
            <a:ext cx="6492240" cy="347472"/>
          </a:xfrm>
          <a:prstGeom prst="rect">
            <a:avLst/>
          </a:prstGeom>
          <a:noFill/>
        </p:spPr>
        <p:txBody>
          <a:bodyPr wrap="none" lIns="0" tIns="0" rIns="0" bIns="0">
            <a:spAutoFit/>
          </a:bodyPr>
          <a:lstStyle/>
          <a:p>
            <a:pPr algn="l">
              <a:defRPr sz="1050" b="1">
                <a:solidFill>
                  <a:srgbClr val="FFFFFF"/>
                </a:solidFill>
                <a:latin typeface="Segoe UI"/>
              </a:defRPr>
            </a:pPr>
            <a:r>
              <a:t>STM32 Firmware Execution Sequence &amp; Exception Handling</a:t>
            </a:r>
          </a:p>
        </p:txBody>
      </p:sp>
      <p:sp>
        <p:nvSpPr>
          <p:cNvPr id="14" name="TextBox 13"/>
          <p:cNvSpPr txBox="1"/>
          <p:nvPr/>
        </p:nvSpPr>
        <p:spPr>
          <a:xfrm>
            <a:off x="5029200" y="1737360"/>
            <a:ext cx="6400800" cy="4526280"/>
          </a:xfrm>
          <a:prstGeom prst="rect">
            <a:avLst/>
          </a:prstGeom>
          <a:noFill/>
        </p:spPr>
        <p:txBody>
          <a:bodyPr wrap="square">
            <a:spAutoFit/>
          </a:bodyPr>
          <a:lstStyle/>
          <a:p>
            <a:pPr>
              <a:spcBef>
                <a:spcPts val="0"/>
              </a:spcBef>
              <a:defRPr sz="950" b="1">
                <a:solidFill>
                  <a:srgbClr val="0B1B3D"/>
                </a:solidFill>
              </a:defRPr>
            </a:pPr>
            <a:r>
              <a:t>Step 1: System Initialization &amp; Peripheral Setup</a:t>
            </a:r>
          </a:p>
          <a:p>
            <a:pPr>
              <a:spcBef>
                <a:spcPts val="100"/>
              </a:spcBef>
              <a:defRPr sz="850">
                <a:solidFill>
                  <a:srgbClr val="243B53"/>
                </a:solidFill>
              </a:defRPr>
            </a:pPr>
            <a:r>
              <a:t>Initialize global registers: PPR = 20, sampling interval Δt = 1.0 s, pulse accumulator N = 0. Configure TIM2 in external clock mode (ETR/Input Capture) and TIM3 as periodic 1.0s interrupt timer.</a:t>
            </a:r>
          </a:p>
          <a:p>
            <a:pPr>
              <a:spcBef>
                <a:spcPts val="500"/>
              </a:spcBef>
              <a:defRPr sz="950" b="1">
                <a:solidFill>
                  <a:srgbClr val="0B1B3D"/>
                </a:solidFill>
              </a:defRPr>
            </a:pPr>
            <a:r>
              <a:t>Step 2: Non-Blocking Pulse Accumulation</a:t>
            </a:r>
          </a:p>
          <a:p>
            <a:pPr>
              <a:spcBef>
                <a:spcPts val="100"/>
              </a:spcBef>
              <a:defRPr sz="850">
                <a:solidFill>
                  <a:srgbClr val="243B53"/>
                </a:solidFill>
              </a:defRPr>
            </a:pPr>
            <a:r>
              <a:t>Encoder pulses trigger hardware timer TIM2 counter register directly without CPU intervention. This avoids interrupt latency at high rotational speeds.</a:t>
            </a:r>
          </a:p>
          <a:p>
            <a:pPr>
              <a:spcBef>
                <a:spcPts val="500"/>
              </a:spcBef>
              <a:defRPr sz="950" b="1">
                <a:solidFill>
                  <a:srgbClr val="0B1B3D"/>
                </a:solidFill>
              </a:defRPr>
            </a:pPr>
            <a:r>
              <a:t>Step 3: Deterministic Periodic Timer ISR (1.0s Window)</a:t>
            </a:r>
          </a:p>
          <a:p>
            <a:pPr>
              <a:spcBef>
                <a:spcPts val="100"/>
              </a:spcBef>
              <a:defRPr sz="850">
                <a:solidFill>
                  <a:srgbClr val="243B53"/>
                </a:solidFill>
              </a:defRPr>
            </a:pPr>
            <a:r>
              <a:t>TIM3 generates an update event interrupt precisely at t = 1.0 s. Inside the ISR: atomic read of TIM2 counter (N), reset TIM2 counter to 0, and raise computation flag.</a:t>
            </a:r>
          </a:p>
          <a:p>
            <a:pPr>
              <a:spcBef>
                <a:spcPts val="500"/>
              </a:spcBef>
              <a:defRPr sz="950" b="1">
                <a:solidFill>
                  <a:srgbClr val="0B1B3D"/>
                </a:solidFill>
              </a:defRPr>
            </a:pPr>
            <a:r>
              <a:t>Step 4: Zero-Speed / Motor Stopped Boundary Check</a:t>
            </a:r>
          </a:p>
          <a:p>
            <a:pPr>
              <a:spcBef>
                <a:spcPts val="100"/>
              </a:spcBef>
              <a:defRPr sz="850">
                <a:solidFill>
                  <a:srgbClr val="243B53"/>
                </a:solidFill>
              </a:defRPr>
            </a:pPr>
            <a:r>
              <a:t>If pulse count N == 0: Explicitly set RPM = 0.0 and ω = 0.00 rad/s. Prevents uninitialized states or division anomalies, accurately indicating motor halt.</a:t>
            </a:r>
          </a:p>
          <a:p>
            <a:pPr>
              <a:spcBef>
                <a:spcPts val="500"/>
              </a:spcBef>
              <a:defRPr sz="950" b="1">
                <a:solidFill>
                  <a:srgbClr val="0B1B3D"/>
                </a:solidFill>
              </a:defRPr>
            </a:pPr>
            <a:r>
              <a:t>Step 5: Mathematical Velocity Conversion</a:t>
            </a:r>
          </a:p>
          <a:p>
            <a:pPr>
              <a:spcBef>
                <a:spcPts val="100"/>
              </a:spcBef>
              <a:defRPr sz="850">
                <a:solidFill>
                  <a:srgbClr val="243B53"/>
                </a:solidFill>
              </a:defRPr>
            </a:pPr>
            <a:r>
              <a:t>If N &gt; 0: Calculate RPM = (N × 60.0) / (PPR × Δt). Compute physical angular velocity ω = (2π × RPM) / 60.0 rad/s.</a:t>
            </a:r>
          </a:p>
          <a:p>
            <a:pPr>
              <a:spcBef>
                <a:spcPts val="500"/>
              </a:spcBef>
              <a:defRPr sz="950" b="1">
                <a:solidFill>
                  <a:srgbClr val="0B1B3D"/>
                </a:solidFill>
              </a:defRPr>
            </a:pPr>
            <a:r>
              <a:t>Step 6: Telemetry Transmission &amp; Continuous Loop</a:t>
            </a:r>
          </a:p>
          <a:p>
            <a:pPr>
              <a:spcBef>
                <a:spcPts val="100"/>
              </a:spcBef>
              <a:defRPr sz="850">
                <a:solidFill>
                  <a:srgbClr val="243B53"/>
                </a:solidFill>
              </a:defRPr>
            </a:pPr>
            <a:r>
              <a:t>Format data payload into serial telemetry string: '[DATA] RPM: %0.2f | Omega: %0.2f rad/s | Pulses: %lu'. Transmit over UART to virtual dashboard. Re-arm TIM3 and repeat.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Simulation Implementation &amp; Code Architecture</a:t>
            </a:r>
          </a:p>
          <a:p>
            <a:pPr>
              <a:spcBef>
                <a:spcPts val="300"/>
              </a:spcBef>
              <a:defRPr sz="1100">
                <a:solidFill>
                  <a:srgbClr val="00E5FF"/>
                </a:solidFill>
                <a:latin typeface="Segoe UI"/>
              </a:defRPr>
            </a:pPr>
            <a:r>
              <a:t>Simulation Workflow, Target STM32 C Firmware Model, and Python Verification Engine</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ectangle 9"/>
          <p:cNvSpPr/>
          <p:nvPr/>
        </p:nvSpPr>
        <p:spPr>
          <a:xfrm>
            <a:off x="548640" y="1234440"/>
            <a:ext cx="11064240" cy="685800"/>
          </a:xfrm>
          <a:prstGeom prst="rect">
            <a:avLst/>
          </a:prstGeom>
          <a:solidFill>
            <a:srgbClr val="0B1B3D"/>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tIns="91440" rtlCol="0" anchor="ctr"/>
          <a:lstStyle/>
          <a:p>
            <a:pPr algn="ctr">
              <a:defRPr sz="950" b="1">
                <a:solidFill>
                  <a:srgbClr val="00E5FF"/>
                </a:solidFill>
              </a:defRPr>
            </a:pPr>
            <a:r>
              <a:t>7-STEP SIMULATION PIPELINE WORKFLOW:</a:t>
            </a:r>
          </a:p>
          <a:p>
            <a:pPr>
              <a:spcBef>
                <a:spcPts val="200"/>
              </a:spcBef>
              <a:defRPr sz="900">
                <a:solidFill>
                  <a:srgbClr val="FFFFFF"/>
                </a:solidFill>
              </a:defRPr>
            </a:pPr>
            <a:r>
              <a:t>1. Set PPR (20) &amp; Δt (1.0s) → 2. Configure Motor Speed → 3. Synthesize Pulse Train → 4. Accumulate Pulses (N) → 5. Compute RPM &amp; ω → 6. Compare vs Target → 7. Plot Graphs</a:t>
            </a:r>
          </a:p>
        </p:txBody>
      </p:sp>
      <p:sp>
        <p:nvSpPr>
          <p:cNvPr id="11" name="Rounded Rectangle 10"/>
          <p:cNvSpPr/>
          <p:nvPr/>
        </p:nvSpPr>
        <p:spPr>
          <a:xfrm>
            <a:off x="548640" y="2057400"/>
            <a:ext cx="5394960" cy="434340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2057400"/>
            <a:ext cx="539496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093976"/>
            <a:ext cx="5120640" cy="347472"/>
          </a:xfrm>
          <a:prstGeom prst="rect">
            <a:avLst/>
          </a:prstGeom>
          <a:noFill/>
        </p:spPr>
        <p:txBody>
          <a:bodyPr wrap="none" lIns="0" tIns="0" rIns="0" bIns="0">
            <a:spAutoFit/>
          </a:bodyPr>
          <a:lstStyle/>
          <a:p>
            <a:pPr algn="l">
              <a:defRPr sz="1050" b="1">
                <a:solidFill>
                  <a:srgbClr val="FFFFFF"/>
                </a:solidFill>
                <a:latin typeface="Segoe UI"/>
              </a:defRPr>
            </a:pPr>
            <a:r>
              <a:t>STM32 Target C Firmware Model (HAL-Based)</a:t>
            </a:r>
          </a:p>
        </p:txBody>
      </p:sp>
      <p:sp>
        <p:nvSpPr>
          <p:cNvPr id="14" name="TextBox 13"/>
          <p:cNvSpPr txBox="1"/>
          <p:nvPr/>
        </p:nvSpPr>
        <p:spPr>
          <a:xfrm>
            <a:off x="685800" y="2532888"/>
            <a:ext cx="5120640" cy="3749040"/>
          </a:xfrm>
          <a:prstGeom prst="rect">
            <a:avLst/>
          </a:prstGeom>
          <a:noFill/>
        </p:spPr>
        <p:txBody>
          <a:bodyPr wrap="square">
            <a:spAutoFit/>
          </a:bodyPr>
          <a:lstStyle/>
          <a:p>
            <a:pPr>
              <a:defRPr sz="850">
                <a:solidFill>
                  <a:srgbClr val="0B1B3D"/>
                </a:solidFill>
                <a:latin typeface="Consolas"/>
              </a:defRPr>
            </a:pPr>
            <a:r>
              <a:t>// STM32 Periodic Sampling Interrupt Handler</a:t>
            </a:r>
            <a:br/>
            <a:r>
              <a:t>#define ENCODER_PPR  20.0f</a:t>
            </a:r>
            <a:br/>
            <a:r>
              <a:t>#define SAMPLING_DT  1.0f</a:t>
            </a:r>
            <a:br/>
            <a:r>
              <a:t>#define PI           3.14159265f</a:t>
            </a:r>
            <a:br/>
            <a:br/>
            <a:r>
              <a:t>void HAL_TIM_PeriodElapsedCallback(TIM_HandleTypeDef *htim) {</a:t>
            </a:r>
            <a:br/>
            <a:r>
              <a:t>    if (htim-&gt;Instance == TIM3) { // 1.0s Periodic Event</a:t>
            </a:r>
            <a:br/>
            <a:r>
              <a:t>        uint32_t N = __HAL_TIM_GET_COUNTER(&amp;htim2);</a:t>
            </a:r>
            <a:br/>
            <a:r>
              <a:t>        __HAL_TIM_SET_COUNTER(&amp;htim2, 0);</a:t>
            </a:r>
            <a:br/>
            <a:br/>
            <a:r>
              <a:t>        float rpm = 0.0f, omega = 0.0f;</a:t>
            </a:r>
            <a:br/>
            <a:r>
              <a:t>        if (N &gt; 0) {</a:t>
            </a:r>
            <a:br/>
            <a:r>
              <a:t>            rpm   = ((float)N * 60.0f) / (ENCODER_PPR * SAMPLING_DT);</a:t>
            </a:r>
            <a:br/>
            <a:r>
              <a:t>            omega = (2.0f * PI * rpm) / 60.0f;</a:t>
            </a:r>
            <a:br/>
            <a:r>
              <a:t>        }</a:t>
            </a:r>
            <a:br/>
            <a:r>
              <a:t>        // Send telemetry packet over virtual UART</a:t>
            </a:r>
            <a:br/>
            <a:r>
              <a:t>        printf("[SIM] N=%lu | RPM=%.2f | Omega=%.2f rad/s\r\n",</a:t>
            </a:r>
            <a:br/>
            <a:r>
              <a:t>               N, rpm, omega);</a:t>
            </a:r>
            <a:br/>
            <a:r>
              <a:t>    }</a:t>
            </a:r>
            <a:br/>
            <a:r>
              <a:t>}</a:t>
            </a:r>
          </a:p>
        </p:txBody>
      </p:sp>
      <p:sp>
        <p:nvSpPr>
          <p:cNvPr id="15" name="Rounded Rectangle 14"/>
          <p:cNvSpPr/>
          <p:nvPr/>
        </p:nvSpPr>
        <p:spPr>
          <a:xfrm>
            <a:off x="6217920" y="2057400"/>
            <a:ext cx="5394960" cy="434340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2057400"/>
            <a:ext cx="539496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2093976"/>
            <a:ext cx="5120640" cy="347472"/>
          </a:xfrm>
          <a:prstGeom prst="rect">
            <a:avLst/>
          </a:prstGeom>
          <a:noFill/>
        </p:spPr>
        <p:txBody>
          <a:bodyPr wrap="none" lIns="0" tIns="0" rIns="0" bIns="0">
            <a:spAutoFit/>
          </a:bodyPr>
          <a:lstStyle/>
          <a:p>
            <a:pPr algn="l">
              <a:defRPr sz="1050" b="1">
                <a:solidFill>
                  <a:srgbClr val="FFFFFF"/>
                </a:solidFill>
                <a:latin typeface="Segoe UI"/>
              </a:defRPr>
            </a:pPr>
            <a:r>
              <a:t>Python Simulation Engine &amp; Verification Model</a:t>
            </a:r>
          </a:p>
        </p:txBody>
      </p:sp>
      <p:sp>
        <p:nvSpPr>
          <p:cNvPr id="18" name="TextBox 17"/>
          <p:cNvSpPr txBox="1"/>
          <p:nvPr/>
        </p:nvSpPr>
        <p:spPr>
          <a:xfrm>
            <a:off x="6355080" y="2532888"/>
            <a:ext cx="5120640" cy="3749040"/>
          </a:xfrm>
          <a:prstGeom prst="rect">
            <a:avLst/>
          </a:prstGeom>
          <a:noFill/>
        </p:spPr>
        <p:txBody>
          <a:bodyPr wrap="square">
            <a:spAutoFit/>
          </a:bodyPr>
          <a:lstStyle/>
          <a:p>
            <a:pPr>
              <a:defRPr sz="850">
                <a:solidFill>
                  <a:srgbClr val="0B1B3D"/>
                </a:solidFill>
                <a:latin typeface="Consolas"/>
              </a:defRPr>
            </a:pPr>
            <a:r>
              <a:t># Discrete Tachometer Simulation Engine</a:t>
            </a:r>
            <a:br/>
            <a:r>
              <a:t>import numpy as np</a:t>
            </a:r>
            <a:br/>
            <a:br/>
            <a:r>
              <a:t>def simulate_tachometer(target_rpm, ppr=20, dt=1.0):</a:t>
            </a:r>
            <a:br/>
            <a:r>
              <a:t>    if target_rpm &lt;= 0:</a:t>
            </a:r>
            <a:br/>
            <a:r>
              <a:t>        return 0, 0.0, 0.0</a:t>
            </a:r>
            <a:br/>
            <a:r>
              <a:t>    # Theoretical pulse frequency (Hz)</a:t>
            </a:r>
            <a:br/>
            <a:r>
              <a:t>    f_pulse = (target_rpm * ppr) / 60.0</a:t>
            </a:r>
            <a:br/>
            <a:r>
              <a:t>    # Counted integer pulses in window dt</a:t>
            </a:r>
            <a:br/>
            <a:r>
              <a:t>    pulse_count = int(round(f_pulse * dt))</a:t>
            </a:r>
            <a:br/>
            <a:br/>
            <a:r>
              <a:t>    # Reconstruct speed metrics</a:t>
            </a:r>
            <a:br/>
            <a:r>
              <a:t>    est_rpm = (pulse_count * 60.0) / (ppr * dt)</a:t>
            </a:r>
            <a:br/>
            <a:r>
              <a:t>    est_omega = (2.0 * np.pi * est_rpm) / 60.0</a:t>
            </a:r>
            <a:br/>
            <a:r>
              <a:t>    return pulse_count, est_rpm, est_omega</a:t>
            </a:r>
            <a:br/>
            <a:br/>
            <a:r>
              <a:t># Verification across laboratory test conditions</a:t>
            </a:r>
            <a:br/>
            <a:r>
              <a:t>for speed in [0, 300, 600, 900]:</a:t>
            </a:r>
            <a:br/>
            <a:r>
              <a:t>    n, r, w = simulate_tachometer(speed)</a:t>
            </a:r>
            <a:br/>
            <a:r>
              <a:t>    print(f"{speed} RPM -&gt; N={n}, Calc_RPM={r}, Omega={w:.2f}")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Simulated Output &amp; Performance Graphs</a:t>
            </a:r>
          </a:p>
          <a:p>
            <a:pPr>
              <a:spcBef>
                <a:spcPts val="300"/>
              </a:spcBef>
              <a:defRPr sz="1100">
                <a:solidFill>
                  <a:srgbClr val="00E5FF"/>
                </a:solidFill>
                <a:latin typeface="Segoe UI"/>
              </a:defRPr>
            </a:pPr>
            <a:r>
              <a:t>Multi-Panel Graphical Telemetry &amp; Illustrative Laboratory Verification Dataset</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pic>
        <p:nvPicPr>
          <p:cNvPr id="10" name="Picture 9" descr="slide10_simulation_plots.png"/>
          <p:cNvPicPr>
            <a:picLocks noChangeAspect="1"/>
          </p:cNvPicPr>
          <p:nvPr/>
        </p:nvPicPr>
        <p:blipFill>
          <a:blip r:embed="rId3"/>
          <a:stretch>
            <a:fillRect/>
          </a:stretch>
        </p:blipFill>
        <p:spPr>
          <a:xfrm>
            <a:off x="548640" y="1234440"/>
            <a:ext cx="6217920" cy="5120640"/>
          </a:xfrm>
          <a:prstGeom prst="rect">
            <a:avLst/>
          </a:prstGeom>
        </p:spPr>
      </p:pic>
      <p:sp>
        <p:nvSpPr>
          <p:cNvPr id="11" name="Rounded Rectangle 10"/>
          <p:cNvSpPr/>
          <p:nvPr/>
        </p:nvSpPr>
        <p:spPr>
          <a:xfrm>
            <a:off x="6949440" y="1234440"/>
            <a:ext cx="4663440" cy="512064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949440" y="1234440"/>
            <a:ext cx="466344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86600" y="1271016"/>
            <a:ext cx="4389120" cy="347472"/>
          </a:xfrm>
          <a:prstGeom prst="rect">
            <a:avLst/>
          </a:prstGeom>
          <a:noFill/>
        </p:spPr>
        <p:txBody>
          <a:bodyPr wrap="none" lIns="0" tIns="0" rIns="0" bIns="0">
            <a:spAutoFit/>
          </a:bodyPr>
          <a:lstStyle/>
          <a:p>
            <a:pPr algn="l">
              <a:defRPr sz="1050" b="1">
                <a:solidFill>
                  <a:srgbClr val="FFFFFF"/>
                </a:solidFill>
                <a:latin typeface="Segoe UI"/>
              </a:defRPr>
            </a:pPr>
            <a:r>
              <a:t>Laboratory Test Benchmarking (Illustrative)</a:t>
            </a:r>
          </a:p>
        </p:txBody>
      </p:sp>
      <p:sp>
        <p:nvSpPr>
          <p:cNvPr id="14" name="TextBox 13"/>
          <p:cNvSpPr txBox="1"/>
          <p:nvPr/>
        </p:nvSpPr>
        <p:spPr>
          <a:xfrm>
            <a:off x="7086600" y="1709928"/>
            <a:ext cx="4389120" cy="1097280"/>
          </a:xfrm>
          <a:prstGeom prst="rect">
            <a:avLst/>
          </a:prstGeom>
          <a:noFill/>
        </p:spPr>
        <p:txBody>
          <a:bodyPr wrap="square">
            <a:spAutoFit/>
          </a:bodyPr>
          <a:lstStyle/>
          <a:p>
            <a:pPr>
              <a:defRPr sz="950" b="1">
                <a:solidFill>
                  <a:srgbClr val="0B1B3D"/>
                </a:solidFill>
              </a:defRPr>
            </a:pPr>
            <a:r>
              <a:t>Configured Simulation Test Parameters:</a:t>
            </a:r>
          </a:p>
          <a:p>
            <a:pPr>
              <a:spcBef>
                <a:spcPts val="200"/>
              </a:spcBef>
              <a:defRPr sz="850">
                <a:solidFill>
                  <a:srgbClr val="243B53"/>
                </a:solidFill>
              </a:defRPr>
            </a:pPr>
            <a:r>
              <a:t>• Encoder Resolution: PPR = 20 counted pulses/rev</a:t>
            </a:r>
          </a:p>
          <a:p>
            <a:pPr>
              <a:spcBef>
                <a:spcPts val="200"/>
              </a:spcBef>
              <a:defRPr sz="850">
                <a:solidFill>
                  <a:srgbClr val="243B53"/>
                </a:solidFill>
              </a:defRPr>
            </a:pPr>
            <a:r>
              <a:t>• Sampling Interval: Δt = 1.0 second (fixed window)</a:t>
            </a:r>
          </a:p>
          <a:p>
            <a:pPr>
              <a:spcBef>
                <a:spcPts val="200"/>
              </a:spcBef>
              <a:defRPr sz="850">
                <a:solidFill>
                  <a:srgbClr val="243B53"/>
                </a:solidFill>
              </a:defRPr>
            </a:pPr>
            <a:r>
              <a:t>• Pulse Counting: 1x rising-edge accumulation mode</a:t>
            </a:r>
          </a:p>
          <a:p>
            <a:pPr>
              <a:spcBef>
                <a:spcPts val="200"/>
              </a:spcBef>
              <a:defRPr sz="850">
                <a:solidFill>
                  <a:srgbClr val="243B53"/>
                </a:solidFill>
              </a:defRPr>
            </a:pPr>
            <a:r>
              <a:t>• Test Speeds: 0 RPM, 300 RPM, 600 RPM, 900 RPM</a:t>
            </a:r>
          </a:p>
        </p:txBody>
      </p:sp>
      <p:graphicFrame>
        <p:nvGraphicFramePr>
          <p:cNvPr id="15" name="Table 14"/>
          <p:cNvGraphicFramePr>
            <a:graphicFrameLocks noGrp="1"/>
          </p:cNvGraphicFramePr>
          <p:nvPr/>
        </p:nvGraphicFramePr>
        <p:xfrm>
          <a:off x="7040880" y="2926080"/>
          <a:ext cx="4480560" cy="2011680"/>
        </p:xfrm>
        <a:graphic>
          <a:graphicData uri="http://schemas.openxmlformats.org/drawingml/2006/table">
            <a:tbl>
              <a:tblPr firstRow="1" bandRow="1">
                <a:tableStyleId>{5C22544A-7EE6-4342-B048-85BDC9FD1C3A}</a:tableStyleId>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02336">
                <a:tc>
                  <a:txBody>
                    <a:bodyPr/>
                    <a:lstStyle/>
                    <a:p>
                      <a:pPr algn="ctr">
                        <a:defRPr sz="800" b="1">
                          <a:solidFill>
                            <a:srgbClr val="FFFFFF"/>
                          </a:solidFill>
                          <a:latin typeface="Segoe UI"/>
                        </a:defRPr>
                      </a:pPr>
                      <a:r>
                        <a:t>Condition</a:t>
                      </a:r>
                    </a:p>
                  </a:txBody>
                  <a:tcPr marL="25400" marR="25400" marT="25400" marB="25400">
                    <a:solidFill>
                      <a:srgbClr val="0B1B3D"/>
                    </a:solidFill>
                  </a:tcPr>
                </a:tc>
                <a:tc>
                  <a:txBody>
                    <a:bodyPr/>
                    <a:lstStyle/>
                    <a:p>
                      <a:pPr algn="ctr">
                        <a:defRPr sz="800" b="1">
                          <a:solidFill>
                            <a:srgbClr val="FFFFFF"/>
                          </a:solidFill>
                          <a:latin typeface="Segoe UI"/>
                        </a:defRPr>
                      </a:pPr>
                      <a:r>
                        <a:t>Input Speed</a:t>
                      </a:r>
                    </a:p>
                  </a:txBody>
                  <a:tcPr marL="25400" marR="25400" marT="25400" marB="25400">
                    <a:solidFill>
                      <a:srgbClr val="0B1B3D"/>
                    </a:solidFill>
                  </a:tcPr>
                </a:tc>
                <a:tc>
                  <a:txBody>
                    <a:bodyPr/>
                    <a:lstStyle/>
                    <a:p>
                      <a:pPr algn="ctr">
                        <a:defRPr sz="800" b="1">
                          <a:solidFill>
                            <a:srgbClr val="FFFFFF"/>
                          </a:solidFill>
                          <a:latin typeface="Segoe UI"/>
                        </a:defRPr>
                      </a:pPr>
                      <a:r>
                        <a:t>Pulses (N)</a:t>
                      </a:r>
                    </a:p>
                  </a:txBody>
                  <a:tcPr marL="25400" marR="25400" marT="25400" marB="25400">
                    <a:solidFill>
                      <a:srgbClr val="0B1B3D"/>
                    </a:solidFill>
                  </a:tcPr>
                </a:tc>
                <a:tc>
                  <a:txBody>
                    <a:bodyPr/>
                    <a:lstStyle/>
                    <a:p>
                      <a:pPr algn="ctr">
                        <a:defRPr sz="800" b="1">
                          <a:solidFill>
                            <a:srgbClr val="FFFFFF"/>
                          </a:solidFill>
                          <a:latin typeface="Segoe UI"/>
                        </a:defRPr>
                      </a:pPr>
                      <a:r>
                        <a:t>Calc. RPM</a:t>
                      </a:r>
                    </a:p>
                  </a:txBody>
                  <a:tcPr marL="25400" marR="25400" marT="25400" marB="25400">
                    <a:solidFill>
                      <a:srgbClr val="0B1B3D"/>
                    </a:solidFill>
                  </a:tcPr>
                </a:tc>
                <a:tc>
                  <a:txBody>
                    <a:bodyPr/>
                    <a:lstStyle/>
                    <a:p>
                      <a:pPr algn="ctr">
                        <a:defRPr sz="800" b="1">
                          <a:solidFill>
                            <a:srgbClr val="FFFFFF"/>
                          </a:solidFill>
                          <a:latin typeface="Segoe UI"/>
                        </a:defRPr>
                      </a:pPr>
                      <a:r>
                        <a:t>Omega (ω)</a:t>
                      </a:r>
                    </a:p>
                  </a:txBody>
                  <a:tcPr marL="25400" marR="25400" marT="25400" marB="25400">
                    <a:solidFill>
                      <a:srgbClr val="0B1B3D"/>
                    </a:solidFill>
                  </a:tcPr>
                </a:tc>
                <a:extLst>
                  <a:ext uri="{0D108BD9-81ED-4DB2-BD59-A6C34878D82A}">
                    <a16:rowId xmlns:a16="http://schemas.microsoft.com/office/drawing/2014/main" val="10000"/>
                  </a:ext>
                </a:extLst>
              </a:tr>
              <a:tr h="402336">
                <a:tc>
                  <a:txBody>
                    <a:bodyPr/>
                    <a:lstStyle/>
                    <a:p>
                      <a:pPr algn="ctr">
                        <a:defRPr sz="800">
                          <a:solidFill>
                            <a:srgbClr val="0B1B3D"/>
                          </a:solidFill>
                          <a:latin typeface="Segoe UI"/>
                        </a:defRPr>
                      </a:pPr>
                      <a:r>
                        <a:t>Halt</a:t>
                      </a:r>
                    </a:p>
                  </a:txBody>
                  <a:tcPr marL="25400" marR="25400" marT="25400" marB="25400">
                    <a:solidFill>
                      <a:srgbClr val="FFFFFF"/>
                    </a:solidFill>
                  </a:tcPr>
                </a:tc>
                <a:tc>
                  <a:txBody>
                    <a:bodyPr/>
                    <a:lstStyle/>
                    <a:p>
                      <a:pPr algn="ctr">
                        <a:defRPr sz="800">
                          <a:solidFill>
                            <a:srgbClr val="0B1B3D"/>
                          </a:solidFill>
                          <a:latin typeface="Segoe UI"/>
                        </a:defRPr>
                      </a:pPr>
                      <a:r>
                        <a:t>0 RPM</a:t>
                      </a:r>
                    </a:p>
                  </a:txBody>
                  <a:tcPr marL="25400" marR="25400" marT="25400" marB="25400">
                    <a:solidFill>
                      <a:srgbClr val="FFFFFF"/>
                    </a:solidFill>
                  </a:tcPr>
                </a:tc>
                <a:tc>
                  <a:txBody>
                    <a:bodyPr/>
                    <a:lstStyle/>
                    <a:p>
                      <a:pPr algn="ctr">
                        <a:defRPr sz="800">
                          <a:solidFill>
                            <a:srgbClr val="0B1B3D"/>
                          </a:solidFill>
                          <a:latin typeface="Segoe UI"/>
                        </a:defRPr>
                      </a:pPr>
                      <a:r>
                        <a:t>0 / s</a:t>
                      </a:r>
                    </a:p>
                  </a:txBody>
                  <a:tcPr marL="25400" marR="25400" marT="25400" marB="25400">
                    <a:solidFill>
                      <a:srgbClr val="FFFFFF"/>
                    </a:solidFill>
                  </a:tcPr>
                </a:tc>
                <a:tc>
                  <a:txBody>
                    <a:bodyPr/>
                    <a:lstStyle/>
                    <a:p>
                      <a:pPr algn="ctr">
                        <a:defRPr sz="800">
                          <a:solidFill>
                            <a:srgbClr val="0B1B3D"/>
                          </a:solidFill>
                          <a:latin typeface="Segoe UI"/>
                        </a:defRPr>
                      </a:pPr>
                      <a:r>
                        <a:t>0.00 RPM</a:t>
                      </a:r>
                    </a:p>
                  </a:txBody>
                  <a:tcPr marL="25400" marR="25400" marT="25400" marB="25400">
                    <a:solidFill>
                      <a:srgbClr val="FFFFFF"/>
                    </a:solidFill>
                  </a:tcPr>
                </a:tc>
                <a:tc>
                  <a:txBody>
                    <a:bodyPr/>
                    <a:lstStyle/>
                    <a:p>
                      <a:pPr algn="ctr">
                        <a:defRPr sz="800">
                          <a:solidFill>
                            <a:srgbClr val="0B1B3D"/>
                          </a:solidFill>
                          <a:latin typeface="Segoe UI"/>
                        </a:defRPr>
                      </a:pPr>
                      <a:r>
                        <a:t>0.00 rad/s</a:t>
                      </a:r>
                    </a:p>
                  </a:txBody>
                  <a:tcPr marL="25400" marR="25400" marT="25400" marB="25400">
                    <a:solidFill>
                      <a:srgbClr val="FFFFFF"/>
                    </a:solidFill>
                  </a:tcPr>
                </a:tc>
                <a:extLst>
                  <a:ext uri="{0D108BD9-81ED-4DB2-BD59-A6C34878D82A}">
                    <a16:rowId xmlns:a16="http://schemas.microsoft.com/office/drawing/2014/main" val="10001"/>
                  </a:ext>
                </a:extLst>
              </a:tr>
              <a:tr h="402336">
                <a:tc>
                  <a:txBody>
                    <a:bodyPr/>
                    <a:lstStyle/>
                    <a:p>
                      <a:pPr algn="ctr">
                        <a:defRPr sz="800">
                          <a:solidFill>
                            <a:srgbClr val="0B1B3D"/>
                          </a:solidFill>
                          <a:latin typeface="Segoe UI"/>
                        </a:defRPr>
                      </a:pPr>
                      <a:r>
                        <a:t>Test 1</a:t>
                      </a:r>
                    </a:p>
                  </a:txBody>
                  <a:tcPr marL="25400" marR="25400" marT="25400" marB="25400">
                    <a:solidFill>
                      <a:srgbClr val="EBF8FF"/>
                    </a:solidFill>
                  </a:tcPr>
                </a:tc>
                <a:tc>
                  <a:txBody>
                    <a:bodyPr/>
                    <a:lstStyle/>
                    <a:p>
                      <a:pPr algn="ctr">
                        <a:defRPr sz="800">
                          <a:solidFill>
                            <a:srgbClr val="0B1B3D"/>
                          </a:solidFill>
                          <a:latin typeface="Segoe UI"/>
                        </a:defRPr>
                      </a:pPr>
                      <a:r>
                        <a:t>300 RPM</a:t>
                      </a:r>
                    </a:p>
                  </a:txBody>
                  <a:tcPr marL="25400" marR="25400" marT="25400" marB="25400">
                    <a:solidFill>
                      <a:srgbClr val="EBF8FF"/>
                    </a:solidFill>
                  </a:tcPr>
                </a:tc>
                <a:tc>
                  <a:txBody>
                    <a:bodyPr/>
                    <a:lstStyle/>
                    <a:p>
                      <a:pPr algn="ctr">
                        <a:defRPr sz="800">
                          <a:solidFill>
                            <a:srgbClr val="0B1B3D"/>
                          </a:solidFill>
                          <a:latin typeface="Segoe UI"/>
                        </a:defRPr>
                      </a:pPr>
                      <a:r>
                        <a:t>100 / s</a:t>
                      </a:r>
                    </a:p>
                  </a:txBody>
                  <a:tcPr marL="25400" marR="25400" marT="25400" marB="25400">
                    <a:solidFill>
                      <a:srgbClr val="EBF8FF"/>
                    </a:solidFill>
                  </a:tcPr>
                </a:tc>
                <a:tc>
                  <a:txBody>
                    <a:bodyPr/>
                    <a:lstStyle/>
                    <a:p>
                      <a:pPr algn="ctr">
                        <a:defRPr sz="800">
                          <a:solidFill>
                            <a:srgbClr val="0B1B3D"/>
                          </a:solidFill>
                          <a:latin typeface="Segoe UI"/>
                        </a:defRPr>
                      </a:pPr>
                      <a:r>
                        <a:t>300.00 RPM</a:t>
                      </a:r>
                    </a:p>
                  </a:txBody>
                  <a:tcPr marL="25400" marR="25400" marT="25400" marB="25400">
                    <a:solidFill>
                      <a:srgbClr val="EBF8FF"/>
                    </a:solidFill>
                  </a:tcPr>
                </a:tc>
                <a:tc>
                  <a:txBody>
                    <a:bodyPr/>
                    <a:lstStyle/>
                    <a:p>
                      <a:pPr algn="ctr">
                        <a:defRPr sz="800">
                          <a:solidFill>
                            <a:srgbClr val="0B1B3D"/>
                          </a:solidFill>
                          <a:latin typeface="Segoe UI"/>
                        </a:defRPr>
                      </a:pPr>
                      <a:r>
                        <a:t>31.42 rad/s</a:t>
                      </a:r>
                    </a:p>
                  </a:txBody>
                  <a:tcPr marL="25400" marR="25400" marT="25400" marB="25400">
                    <a:solidFill>
                      <a:srgbClr val="EBF8FF"/>
                    </a:solidFill>
                  </a:tcPr>
                </a:tc>
                <a:extLst>
                  <a:ext uri="{0D108BD9-81ED-4DB2-BD59-A6C34878D82A}">
                    <a16:rowId xmlns:a16="http://schemas.microsoft.com/office/drawing/2014/main" val="10002"/>
                  </a:ext>
                </a:extLst>
              </a:tr>
              <a:tr h="402336">
                <a:tc>
                  <a:txBody>
                    <a:bodyPr/>
                    <a:lstStyle/>
                    <a:p>
                      <a:pPr algn="ctr">
                        <a:defRPr sz="800">
                          <a:solidFill>
                            <a:srgbClr val="0B1B3D"/>
                          </a:solidFill>
                          <a:latin typeface="Segoe UI"/>
                        </a:defRPr>
                      </a:pPr>
                      <a:r>
                        <a:t>Test 2</a:t>
                      </a:r>
                    </a:p>
                  </a:txBody>
                  <a:tcPr marL="25400" marR="25400" marT="25400" marB="25400">
                    <a:solidFill>
                      <a:srgbClr val="FFFFFF"/>
                    </a:solidFill>
                  </a:tcPr>
                </a:tc>
                <a:tc>
                  <a:txBody>
                    <a:bodyPr/>
                    <a:lstStyle/>
                    <a:p>
                      <a:pPr algn="ctr">
                        <a:defRPr sz="800">
                          <a:solidFill>
                            <a:srgbClr val="0B1B3D"/>
                          </a:solidFill>
                          <a:latin typeface="Segoe UI"/>
                        </a:defRPr>
                      </a:pPr>
                      <a:r>
                        <a:t>600 RPM</a:t>
                      </a:r>
                    </a:p>
                  </a:txBody>
                  <a:tcPr marL="25400" marR="25400" marT="25400" marB="25400">
                    <a:solidFill>
                      <a:srgbClr val="FFFFFF"/>
                    </a:solidFill>
                  </a:tcPr>
                </a:tc>
                <a:tc>
                  <a:txBody>
                    <a:bodyPr/>
                    <a:lstStyle/>
                    <a:p>
                      <a:pPr algn="ctr">
                        <a:defRPr sz="800">
                          <a:solidFill>
                            <a:srgbClr val="0B1B3D"/>
                          </a:solidFill>
                          <a:latin typeface="Segoe UI"/>
                        </a:defRPr>
                      </a:pPr>
                      <a:r>
                        <a:t>200 / s</a:t>
                      </a:r>
                    </a:p>
                  </a:txBody>
                  <a:tcPr marL="25400" marR="25400" marT="25400" marB="25400">
                    <a:solidFill>
                      <a:srgbClr val="FFFFFF"/>
                    </a:solidFill>
                  </a:tcPr>
                </a:tc>
                <a:tc>
                  <a:txBody>
                    <a:bodyPr/>
                    <a:lstStyle/>
                    <a:p>
                      <a:pPr algn="ctr">
                        <a:defRPr sz="800">
                          <a:solidFill>
                            <a:srgbClr val="0B1B3D"/>
                          </a:solidFill>
                          <a:latin typeface="Segoe UI"/>
                        </a:defRPr>
                      </a:pPr>
                      <a:r>
                        <a:t>600.00 RPM</a:t>
                      </a:r>
                    </a:p>
                  </a:txBody>
                  <a:tcPr marL="25400" marR="25400" marT="25400" marB="25400">
                    <a:solidFill>
                      <a:srgbClr val="FFFFFF"/>
                    </a:solidFill>
                  </a:tcPr>
                </a:tc>
                <a:tc>
                  <a:txBody>
                    <a:bodyPr/>
                    <a:lstStyle/>
                    <a:p>
                      <a:pPr algn="ctr">
                        <a:defRPr sz="800">
                          <a:solidFill>
                            <a:srgbClr val="0B1B3D"/>
                          </a:solidFill>
                          <a:latin typeface="Segoe UI"/>
                        </a:defRPr>
                      </a:pPr>
                      <a:r>
                        <a:t>62.83 rad/s</a:t>
                      </a:r>
                    </a:p>
                  </a:txBody>
                  <a:tcPr marL="25400" marR="25400" marT="25400" marB="25400">
                    <a:solidFill>
                      <a:srgbClr val="FFFFFF"/>
                    </a:solidFill>
                  </a:tcPr>
                </a:tc>
                <a:extLst>
                  <a:ext uri="{0D108BD9-81ED-4DB2-BD59-A6C34878D82A}">
                    <a16:rowId xmlns:a16="http://schemas.microsoft.com/office/drawing/2014/main" val="10003"/>
                  </a:ext>
                </a:extLst>
              </a:tr>
              <a:tr h="402336">
                <a:tc>
                  <a:txBody>
                    <a:bodyPr/>
                    <a:lstStyle/>
                    <a:p>
                      <a:pPr algn="ctr">
                        <a:defRPr sz="800">
                          <a:solidFill>
                            <a:srgbClr val="0B1B3D"/>
                          </a:solidFill>
                          <a:latin typeface="Segoe UI"/>
                        </a:defRPr>
                      </a:pPr>
                      <a:r>
                        <a:t>Test 3</a:t>
                      </a:r>
                    </a:p>
                  </a:txBody>
                  <a:tcPr marL="25400" marR="25400" marT="25400" marB="25400">
                    <a:solidFill>
                      <a:srgbClr val="EBF8FF"/>
                    </a:solidFill>
                  </a:tcPr>
                </a:tc>
                <a:tc>
                  <a:txBody>
                    <a:bodyPr/>
                    <a:lstStyle/>
                    <a:p>
                      <a:pPr algn="ctr">
                        <a:defRPr sz="800">
                          <a:solidFill>
                            <a:srgbClr val="0B1B3D"/>
                          </a:solidFill>
                          <a:latin typeface="Segoe UI"/>
                        </a:defRPr>
                      </a:pPr>
                      <a:r>
                        <a:t>900 RPM</a:t>
                      </a:r>
                    </a:p>
                  </a:txBody>
                  <a:tcPr marL="25400" marR="25400" marT="25400" marB="25400">
                    <a:solidFill>
                      <a:srgbClr val="EBF8FF"/>
                    </a:solidFill>
                  </a:tcPr>
                </a:tc>
                <a:tc>
                  <a:txBody>
                    <a:bodyPr/>
                    <a:lstStyle/>
                    <a:p>
                      <a:pPr algn="ctr">
                        <a:defRPr sz="800">
                          <a:solidFill>
                            <a:srgbClr val="0B1B3D"/>
                          </a:solidFill>
                          <a:latin typeface="Segoe UI"/>
                        </a:defRPr>
                      </a:pPr>
                      <a:r>
                        <a:t>300 / s</a:t>
                      </a:r>
                    </a:p>
                  </a:txBody>
                  <a:tcPr marL="25400" marR="25400" marT="25400" marB="25400">
                    <a:solidFill>
                      <a:srgbClr val="EBF8FF"/>
                    </a:solidFill>
                  </a:tcPr>
                </a:tc>
                <a:tc>
                  <a:txBody>
                    <a:bodyPr/>
                    <a:lstStyle/>
                    <a:p>
                      <a:pPr algn="ctr">
                        <a:defRPr sz="800">
                          <a:solidFill>
                            <a:srgbClr val="0B1B3D"/>
                          </a:solidFill>
                          <a:latin typeface="Segoe UI"/>
                        </a:defRPr>
                      </a:pPr>
                      <a:r>
                        <a:t>900.00 RPM</a:t>
                      </a:r>
                    </a:p>
                  </a:txBody>
                  <a:tcPr marL="25400" marR="25400" marT="25400" marB="25400">
                    <a:solidFill>
                      <a:srgbClr val="EBF8FF"/>
                    </a:solidFill>
                  </a:tcPr>
                </a:tc>
                <a:tc>
                  <a:txBody>
                    <a:bodyPr/>
                    <a:lstStyle/>
                    <a:p>
                      <a:pPr algn="ctr">
                        <a:defRPr sz="800">
                          <a:solidFill>
                            <a:srgbClr val="0B1B3D"/>
                          </a:solidFill>
                          <a:latin typeface="Segoe UI"/>
                        </a:defRPr>
                      </a:pPr>
                      <a:r>
                        <a:t>94.25 rad/s</a:t>
                      </a:r>
                    </a:p>
                  </a:txBody>
                  <a:tcPr marL="25400" marR="25400" marT="25400" marB="25400">
                    <a:solidFill>
                      <a:srgbClr val="EBF8FF"/>
                    </a:solidFill>
                  </a:tcPr>
                </a:tc>
                <a:extLst>
                  <a:ext uri="{0D108BD9-81ED-4DB2-BD59-A6C34878D82A}">
                    <a16:rowId xmlns:a16="http://schemas.microsoft.com/office/drawing/2014/main" val="10004"/>
                  </a:ext>
                </a:extLst>
              </a:tr>
            </a:tbl>
          </a:graphicData>
        </a:graphic>
      </p:graphicFrame>
      <p:sp>
        <p:nvSpPr>
          <p:cNvPr id="16" name="Rectangle 15"/>
          <p:cNvSpPr/>
          <p:nvPr/>
        </p:nvSpPr>
        <p:spPr>
          <a:xfrm>
            <a:off x="7040880" y="5074920"/>
            <a:ext cx="4480560" cy="1143000"/>
          </a:xfrm>
          <a:prstGeom prst="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850" b="1">
                <a:solidFill>
                  <a:srgbClr val="B45309"/>
                </a:solidFill>
              </a:defRPr>
            </a:pPr>
            <a:r>
              <a:t>⚠️ SIMULATION DATA INTEGRITY NOTICE</a:t>
            </a:r>
          </a:p>
          <a:p>
            <a:pPr>
              <a:spcBef>
                <a:spcPts val="200"/>
              </a:spcBef>
              <a:defRPr sz="750">
                <a:solidFill>
                  <a:srgbClr val="78350F"/>
                </a:solidFill>
              </a:defRPr>
            </a:pPr>
            <a:r>
              <a:t>All values presented above and in adjacent waveforms are mathematically calculated illustrative simulation outputs. No physical hardware testbed was operated. They verify that the firmware algorithm satisfies linear speed estimation: N = 100 → 300 RPM (31.42 rad/s), N = 200 → 600 RPM (62.83 rad/s), and N = 300 → 900 RPM (94.25 rad/s).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Test Evaluation, Applications &amp; Limitations</a:t>
            </a:r>
          </a:p>
          <a:p>
            <a:pPr>
              <a:spcBef>
                <a:spcPts val="300"/>
              </a:spcBef>
              <a:defRPr sz="1100">
                <a:solidFill>
                  <a:srgbClr val="00E5FF"/>
                </a:solidFill>
                <a:latin typeface="Segoe UI"/>
              </a:defRPr>
            </a:pPr>
            <a:r>
              <a:t>Algorithmic Verification Benchmarks, Industrial Applications, &amp; Engineering Constraints</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325880"/>
            <a:ext cx="352044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325880"/>
            <a:ext cx="352044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362456"/>
            <a:ext cx="3246120" cy="347472"/>
          </a:xfrm>
          <a:prstGeom prst="rect">
            <a:avLst/>
          </a:prstGeom>
          <a:noFill/>
        </p:spPr>
        <p:txBody>
          <a:bodyPr wrap="none" lIns="0" tIns="0" rIns="0" bIns="0">
            <a:spAutoFit/>
          </a:bodyPr>
          <a:lstStyle/>
          <a:p>
            <a:pPr algn="l">
              <a:defRPr sz="1050" b="1">
                <a:solidFill>
                  <a:srgbClr val="FFFFFF"/>
                </a:solidFill>
                <a:latin typeface="Segoe UI"/>
              </a:defRPr>
            </a:pPr>
            <a:r>
              <a:t>1. Test-Case Verification</a:t>
            </a:r>
          </a:p>
        </p:txBody>
      </p:sp>
      <p:sp>
        <p:nvSpPr>
          <p:cNvPr id="13" name="TextBox 12"/>
          <p:cNvSpPr txBox="1"/>
          <p:nvPr/>
        </p:nvSpPr>
        <p:spPr>
          <a:xfrm>
            <a:off x="685800" y="1828800"/>
            <a:ext cx="3246120" cy="4389120"/>
          </a:xfrm>
          <a:prstGeom prst="rect">
            <a:avLst/>
          </a:prstGeom>
          <a:noFill/>
        </p:spPr>
        <p:txBody>
          <a:bodyPr wrap="square">
            <a:spAutoFit/>
          </a:bodyPr>
          <a:lstStyle/>
          <a:p>
            <a:pPr>
              <a:defRPr sz="1000" b="1">
                <a:solidFill>
                  <a:srgbClr val="0B1B3D"/>
                </a:solidFill>
              </a:defRPr>
            </a:pPr>
            <a:r>
              <a:t>Reference Benchmark Cases:</a:t>
            </a:r>
          </a:p>
          <a:p>
            <a:pPr>
              <a:spcBef>
                <a:spcPts val="400"/>
              </a:spcBef>
              <a:defRPr sz="900" b="1">
                <a:solidFill>
                  <a:srgbClr val="0B1B3D"/>
                </a:solidFill>
              </a:defRPr>
            </a:pPr>
            <a:r>
              <a:t>• Case 0 (Motor Stopped):</a:t>
            </a:r>
          </a:p>
          <a:p>
            <a:pPr>
              <a:spcBef>
                <a:spcPts val="100"/>
              </a:spcBef>
              <a:defRPr sz="800">
                <a:solidFill>
                  <a:srgbClr val="243B53"/>
                </a:solidFill>
              </a:defRPr>
            </a:pPr>
            <a:r>
              <a:t>  Input: 0 RPM  |  Pulses: 0</a:t>
            </a:r>
            <a:br/>
            <a:r>
              <a:t>Output: 0.00 RPM, 0.00 rad/s</a:t>
            </a:r>
            <a:br/>
            <a:r>
              <a:t>Status: Zero-pulse guard verified.</a:t>
            </a:r>
          </a:p>
          <a:p>
            <a:pPr>
              <a:spcBef>
                <a:spcPts val="400"/>
              </a:spcBef>
              <a:defRPr sz="900" b="1">
                <a:solidFill>
                  <a:srgbClr val="0B1B3D"/>
                </a:solidFill>
              </a:defRPr>
            </a:pPr>
            <a:r>
              <a:t>• Case 1 (Low-Speed Test):</a:t>
            </a:r>
          </a:p>
          <a:p>
            <a:pPr>
              <a:spcBef>
                <a:spcPts val="100"/>
              </a:spcBef>
              <a:defRPr sz="800">
                <a:solidFill>
                  <a:srgbClr val="243B53"/>
                </a:solidFill>
              </a:defRPr>
            </a:pPr>
            <a:r>
              <a:t>  Input: 300 RPM  |  Pulses: 100</a:t>
            </a:r>
            <a:br/>
            <a:r>
              <a:t>Output: 300.00 RPM, 31.42 rad/s</a:t>
            </a:r>
            <a:br/>
            <a:r>
              <a:t>Status: Exact 100% agreement.</a:t>
            </a:r>
          </a:p>
          <a:p>
            <a:pPr>
              <a:spcBef>
                <a:spcPts val="400"/>
              </a:spcBef>
              <a:defRPr sz="900" b="1">
                <a:solidFill>
                  <a:srgbClr val="0B1B3D"/>
                </a:solidFill>
              </a:defRPr>
            </a:pPr>
            <a:r>
              <a:t>• Case 2 (Medium-Speed Test):</a:t>
            </a:r>
          </a:p>
          <a:p>
            <a:pPr>
              <a:spcBef>
                <a:spcPts val="100"/>
              </a:spcBef>
              <a:defRPr sz="800">
                <a:solidFill>
                  <a:srgbClr val="243B53"/>
                </a:solidFill>
              </a:defRPr>
            </a:pPr>
            <a:r>
              <a:t>  Input: 600 RPM  |  Pulses: 200</a:t>
            </a:r>
            <a:br/>
            <a:r>
              <a:t>Output: 600.00 RPM, 62.83 rad/s</a:t>
            </a:r>
            <a:br/>
            <a:r>
              <a:t>Status: Exact 100% agreement.</a:t>
            </a:r>
          </a:p>
          <a:p>
            <a:pPr>
              <a:spcBef>
                <a:spcPts val="400"/>
              </a:spcBef>
              <a:defRPr sz="900" b="1">
                <a:solidFill>
                  <a:srgbClr val="0B1B3D"/>
                </a:solidFill>
              </a:defRPr>
            </a:pPr>
            <a:r>
              <a:t>• Case 3 (High-Speed Test):</a:t>
            </a:r>
          </a:p>
          <a:p>
            <a:pPr>
              <a:spcBef>
                <a:spcPts val="100"/>
              </a:spcBef>
              <a:defRPr sz="800">
                <a:solidFill>
                  <a:srgbClr val="243B53"/>
                </a:solidFill>
              </a:defRPr>
            </a:pPr>
            <a:r>
              <a:t>  Input: 900 RPM  |  Pulses: 300</a:t>
            </a:r>
            <a:br/>
            <a:r>
              <a:t>Output: 900.00 RPM, 94.25 rad/s</a:t>
            </a:r>
            <a:br/>
            <a:r>
              <a:t>Status: Exact 100% agreement.</a:t>
            </a:r>
          </a:p>
          <a:p>
            <a:pPr>
              <a:spcBef>
                <a:spcPts val="400"/>
              </a:spcBef>
              <a:defRPr sz="900" b="1">
                <a:solidFill>
                  <a:srgbClr val="0B1B3D"/>
                </a:solidFill>
              </a:defRPr>
            </a:pPr>
            <a:r>
              <a:t>• Algorithm Linearity:</a:t>
            </a:r>
          </a:p>
          <a:p>
            <a:pPr>
              <a:spcBef>
                <a:spcPts val="100"/>
              </a:spcBef>
              <a:defRPr sz="800">
                <a:solidFill>
                  <a:srgbClr val="243B53"/>
                </a:solidFill>
              </a:defRPr>
            </a:pPr>
            <a:r>
              <a:t>  Linearity coefficient R² = 1.000 across all discrete test intervals.</a:t>
            </a:r>
          </a:p>
        </p:txBody>
      </p:sp>
      <p:sp>
        <p:nvSpPr>
          <p:cNvPr id="14" name="Rounded Rectangle 13"/>
          <p:cNvSpPr/>
          <p:nvPr/>
        </p:nvSpPr>
        <p:spPr>
          <a:xfrm>
            <a:off x="4343400" y="1325880"/>
            <a:ext cx="352044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43400" y="1325880"/>
            <a:ext cx="352044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362456"/>
            <a:ext cx="3246120" cy="347472"/>
          </a:xfrm>
          <a:prstGeom prst="rect">
            <a:avLst/>
          </a:prstGeom>
          <a:noFill/>
        </p:spPr>
        <p:txBody>
          <a:bodyPr wrap="none" lIns="0" tIns="0" rIns="0" bIns="0">
            <a:spAutoFit/>
          </a:bodyPr>
          <a:lstStyle/>
          <a:p>
            <a:pPr algn="l">
              <a:defRPr sz="1050" b="1">
                <a:solidFill>
                  <a:srgbClr val="FFFFFF"/>
                </a:solidFill>
                <a:latin typeface="Segoe UI"/>
              </a:defRPr>
            </a:pPr>
            <a:r>
              <a:t>2. Real-World Applications</a:t>
            </a:r>
          </a:p>
        </p:txBody>
      </p:sp>
      <p:sp>
        <p:nvSpPr>
          <p:cNvPr id="17" name="TextBox 16"/>
          <p:cNvSpPr txBox="1"/>
          <p:nvPr/>
        </p:nvSpPr>
        <p:spPr>
          <a:xfrm>
            <a:off x="4480560" y="1828800"/>
            <a:ext cx="3246120" cy="4389120"/>
          </a:xfrm>
          <a:prstGeom prst="rect">
            <a:avLst/>
          </a:prstGeom>
          <a:noFill/>
        </p:spPr>
        <p:txBody>
          <a:bodyPr wrap="square">
            <a:spAutoFit/>
          </a:bodyPr>
          <a:lstStyle/>
          <a:p>
            <a:pPr>
              <a:defRPr sz="1000" b="1">
                <a:solidFill>
                  <a:srgbClr val="0B1B3D"/>
                </a:solidFill>
              </a:defRPr>
            </a:pPr>
            <a:r>
              <a:t>Target Engineering Domains:</a:t>
            </a:r>
          </a:p>
          <a:p>
            <a:pPr>
              <a:spcBef>
                <a:spcPts val="400"/>
              </a:spcBef>
              <a:defRPr sz="900" b="1">
                <a:solidFill>
                  <a:srgbClr val="0B1B3D"/>
                </a:solidFill>
              </a:defRPr>
            </a:pPr>
            <a:r>
              <a:t>✔ Industrial Motor Speed Monitoring:</a:t>
            </a:r>
          </a:p>
          <a:p>
            <a:pPr>
              <a:spcBef>
                <a:spcPts val="100"/>
              </a:spcBef>
              <a:defRPr sz="800">
                <a:solidFill>
                  <a:srgbClr val="243B53"/>
                </a:solidFill>
              </a:defRPr>
            </a:pPr>
            <a:r>
              <a:t>  Closed-loop feedback for AC induction motors, BLDC drives, and CNC machine spindles to maintain steady velocity under load.</a:t>
            </a:r>
          </a:p>
          <a:p>
            <a:pPr>
              <a:spcBef>
                <a:spcPts val="400"/>
              </a:spcBef>
              <a:defRPr sz="900" b="1">
                <a:solidFill>
                  <a:srgbClr val="0B1B3D"/>
                </a:solidFill>
              </a:defRPr>
            </a:pPr>
            <a:r>
              <a:t>✔ Robotics &amp; Motion Control:</a:t>
            </a:r>
          </a:p>
          <a:p>
            <a:pPr>
              <a:spcBef>
                <a:spcPts val="100"/>
              </a:spcBef>
              <a:defRPr sz="800">
                <a:solidFill>
                  <a:srgbClr val="243B53"/>
                </a:solidFill>
              </a:defRPr>
            </a:pPr>
            <a:r>
              <a:t>  Wheel odometry for Autonomous Mobile Robots (AMRs) and joint angular velocity tracking for robotic manipulators.</a:t>
            </a:r>
          </a:p>
          <a:p>
            <a:pPr>
              <a:spcBef>
                <a:spcPts val="400"/>
              </a:spcBef>
              <a:defRPr sz="900" b="1">
                <a:solidFill>
                  <a:srgbClr val="0B1B3D"/>
                </a:solidFill>
              </a:defRPr>
            </a:pPr>
            <a:r>
              <a:t>✔ Automated Conveyor Systems:</a:t>
            </a:r>
          </a:p>
          <a:p>
            <a:pPr>
              <a:spcBef>
                <a:spcPts val="100"/>
              </a:spcBef>
              <a:defRPr sz="800">
                <a:solidFill>
                  <a:srgbClr val="243B53"/>
                </a:solidFill>
              </a:defRPr>
            </a:pPr>
            <a:r>
              <a:t>  Ensuring uniform material transport speed in packaging and assembly lines; detecting belt jams or motor slippage.</a:t>
            </a:r>
          </a:p>
          <a:p>
            <a:pPr>
              <a:spcBef>
                <a:spcPts val="400"/>
              </a:spcBef>
              <a:defRPr sz="900" b="1">
                <a:solidFill>
                  <a:srgbClr val="0B1B3D"/>
                </a:solidFill>
              </a:defRPr>
            </a:pPr>
            <a:r>
              <a:t>✔ Pumps, Turbines &amp; Fans:</a:t>
            </a:r>
          </a:p>
          <a:p>
            <a:pPr>
              <a:spcBef>
                <a:spcPts val="100"/>
              </a:spcBef>
              <a:defRPr sz="800">
                <a:solidFill>
                  <a:srgbClr val="243B53"/>
                </a:solidFill>
              </a:defRPr>
            </a:pPr>
            <a:r>
              <a:t>  Condition monitoring and predictive maintenance in HVAC blowers, centrifugal pumps, and wind turbine shafts.</a:t>
            </a:r>
          </a:p>
          <a:p>
            <a:pPr>
              <a:spcBef>
                <a:spcPts val="400"/>
              </a:spcBef>
              <a:defRPr sz="900" b="1">
                <a:solidFill>
                  <a:srgbClr val="0B1B3D"/>
                </a:solidFill>
              </a:defRPr>
            </a:pPr>
            <a:r>
              <a:t>✔ IoT Fleet Telemetry:</a:t>
            </a:r>
          </a:p>
          <a:p>
            <a:pPr>
              <a:spcBef>
                <a:spcPts val="100"/>
              </a:spcBef>
              <a:defRPr sz="800">
                <a:solidFill>
                  <a:srgbClr val="243B53"/>
                </a:solidFill>
              </a:defRPr>
            </a:pPr>
            <a:r>
              <a:t>  Streaming continuous rotational telemetry to cloud dashboards for anomaly detection and runtime logs.</a:t>
            </a:r>
          </a:p>
        </p:txBody>
      </p:sp>
      <p:sp>
        <p:nvSpPr>
          <p:cNvPr id="18" name="Rounded Rectangle 17"/>
          <p:cNvSpPr/>
          <p:nvPr/>
        </p:nvSpPr>
        <p:spPr>
          <a:xfrm>
            <a:off x="8138160" y="1325880"/>
            <a:ext cx="3520440" cy="4983480"/>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38160" y="1325880"/>
            <a:ext cx="3520440" cy="420624"/>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362456"/>
            <a:ext cx="3246120" cy="347472"/>
          </a:xfrm>
          <a:prstGeom prst="rect">
            <a:avLst/>
          </a:prstGeom>
          <a:noFill/>
        </p:spPr>
        <p:txBody>
          <a:bodyPr wrap="none" lIns="0" tIns="0" rIns="0" bIns="0">
            <a:spAutoFit/>
          </a:bodyPr>
          <a:lstStyle/>
          <a:p>
            <a:pPr algn="l">
              <a:defRPr sz="1050" b="1">
                <a:solidFill>
                  <a:srgbClr val="FFFFFF"/>
                </a:solidFill>
                <a:latin typeface="Segoe UI"/>
              </a:defRPr>
            </a:pPr>
            <a:r>
              <a:t>3. Technical Limitations</a:t>
            </a:r>
          </a:p>
        </p:txBody>
      </p:sp>
      <p:sp>
        <p:nvSpPr>
          <p:cNvPr id="21" name="TextBox 20"/>
          <p:cNvSpPr txBox="1"/>
          <p:nvPr/>
        </p:nvSpPr>
        <p:spPr>
          <a:xfrm>
            <a:off x="8275320" y="1828800"/>
            <a:ext cx="3246120" cy="4389120"/>
          </a:xfrm>
          <a:prstGeom prst="rect">
            <a:avLst/>
          </a:prstGeom>
          <a:noFill/>
        </p:spPr>
        <p:txBody>
          <a:bodyPr wrap="square">
            <a:spAutoFit/>
          </a:bodyPr>
          <a:lstStyle/>
          <a:p>
            <a:pPr>
              <a:defRPr sz="1000" b="1">
                <a:solidFill>
                  <a:srgbClr val="0B1B3D"/>
                </a:solidFill>
              </a:defRPr>
            </a:pPr>
            <a:r>
              <a:t>Critical Engineering Constraints:</a:t>
            </a:r>
          </a:p>
          <a:p>
            <a:pPr>
              <a:spcBef>
                <a:spcPts val="400"/>
              </a:spcBef>
              <a:defRPr sz="900" b="1">
                <a:solidFill>
                  <a:srgbClr val="0B1B3D"/>
                </a:solidFill>
              </a:defRPr>
            </a:pPr>
            <a:r>
              <a:t>⚠️ No Physical Hardware Validation:</a:t>
            </a:r>
          </a:p>
          <a:p>
            <a:pPr>
              <a:spcBef>
                <a:spcPts val="100"/>
              </a:spcBef>
              <a:defRPr sz="800">
                <a:solidFill>
                  <a:srgbClr val="243B53"/>
                </a:solidFill>
              </a:defRPr>
            </a:pPr>
            <a:r>
              <a:t>  Simulation assumes ideal square pulses without optical sensor misalignment, mechanical shaft vibration, or back-EMF noise.</a:t>
            </a:r>
          </a:p>
          <a:p>
            <a:pPr>
              <a:spcBef>
                <a:spcPts val="400"/>
              </a:spcBef>
              <a:defRPr sz="900" b="1">
                <a:solidFill>
                  <a:srgbClr val="0B1B3D"/>
                </a:solidFill>
              </a:defRPr>
            </a:pPr>
            <a:r>
              <a:t>⚠️ Measurement Granularity (Quantization):</a:t>
            </a:r>
          </a:p>
          <a:p>
            <a:pPr>
              <a:spcBef>
                <a:spcPts val="100"/>
              </a:spcBef>
              <a:defRPr sz="800">
                <a:solidFill>
                  <a:srgbClr val="243B53"/>
                </a:solidFill>
              </a:defRPr>
            </a:pPr>
            <a:r>
              <a:t>  With PPR = 20 and Δt = 1.0s, the minimum detectable speed change is ΔRPM = 60/(20×1) = 3.0 RPM. Speeds can only be resolved in 3 RPM steps.</a:t>
            </a:r>
          </a:p>
          <a:p>
            <a:pPr>
              <a:spcBef>
                <a:spcPts val="400"/>
              </a:spcBef>
              <a:defRPr sz="900" b="1">
                <a:solidFill>
                  <a:srgbClr val="0B1B3D"/>
                </a:solidFill>
              </a:defRPr>
            </a:pPr>
            <a:r>
              <a:t>⚠️ Sampling Window Trade-off:</a:t>
            </a:r>
          </a:p>
          <a:p>
            <a:pPr>
              <a:spcBef>
                <a:spcPts val="100"/>
              </a:spcBef>
              <a:defRPr sz="800">
                <a:solidFill>
                  <a:srgbClr val="243B53"/>
                </a:solidFill>
              </a:defRPr>
            </a:pPr>
            <a:r>
              <a:t>  A 1.0-second sampling window introduces latency during rapid motor acceleration or deceleration transients.</a:t>
            </a:r>
          </a:p>
          <a:p>
            <a:pPr>
              <a:spcBef>
                <a:spcPts val="400"/>
              </a:spcBef>
              <a:defRPr sz="900" b="1">
                <a:solidFill>
                  <a:srgbClr val="0B1B3D"/>
                </a:solidFill>
              </a:defRPr>
            </a:pPr>
            <a:r>
              <a:t>⚠️ Pulse Loss Vulnerability:</a:t>
            </a:r>
          </a:p>
          <a:p>
            <a:pPr>
              <a:spcBef>
                <a:spcPts val="100"/>
              </a:spcBef>
              <a:defRPr sz="800">
                <a:solidFill>
                  <a:srgbClr val="243B53"/>
                </a:solidFill>
              </a:defRPr>
            </a:pPr>
            <a:r>
              <a:t>  Electrical EMI noise or optical dust in physical environments can cause missed pulses or false extra edge triggers.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8046720" cy="868680"/>
          </a:xfrm>
          <a:prstGeom prst="rect">
            <a:avLst/>
          </a:prstGeom>
          <a:noFill/>
        </p:spPr>
        <p:txBody>
          <a:bodyPr wrap="square" lIns="0" tIns="0" rIns="0" bIns="0">
            <a:spAutoFit/>
          </a:bodyPr>
          <a:lstStyle/>
          <a:p>
            <a:pPr>
              <a:defRPr sz="2100" b="1">
                <a:solidFill>
                  <a:srgbClr val="FFFFFF"/>
                </a:solidFill>
                <a:latin typeface="Segoe UI"/>
              </a:defRPr>
            </a:pPr>
            <a:r>
              <a:t>Conclusion &amp; Future Roadmap</a:t>
            </a:r>
          </a:p>
          <a:p>
            <a:pPr>
              <a:spcBef>
                <a:spcPts val="300"/>
              </a:spcBef>
              <a:defRPr sz="1100">
                <a:solidFill>
                  <a:srgbClr val="00E5FF"/>
                </a:solidFill>
                <a:latin typeface="Segoe UI"/>
              </a:defRPr>
            </a:pPr>
            <a:r>
              <a:t>Project Summary, Pre-Silicon Validation Outcomes, and Roadmap to Physical IoT Prototype</a:t>
            </a:r>
          </a:p>
        </p:txBody>
      </p:sp>
      <p:sp>
        <p:nvSpPr>
          <p:cNvPr id="6" name="Rounded Rectangle 5"/>
          <p:cNvSpPr/>
          <p:nvPr/>
        </p:nvSpPr>
        <p:spPr>
          <a:xfrm>
            <a:off x="8778240" y="182880"/>
            <a:ext cx="2926080" cy="347472"/>
          </a:xfrm>
          <a:prstGeom prst="roundRect">
            <a:avLst/>
          </a:prstGeom>
          <a:solidFill>
            <a:srgbClr val="102A43"/>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00E5FF"/>
                </a:solidFill>
                <a:latin typeface="Segoe UI"/>
              </a:defRPr>
            </a:pPr>
            <a:r>
              <a:t>EXP 11 | ESD &amp; IoT</a:t>
            </a:r>
          </a:p>
        </p:txBody>
      </p:sp>
      <p:sp>
        <p:nvSpPr>
          <p:cNvPr id="7" name="Rounded Rectangle 6"/>
          <p:cNvSpPr/>
          <p:nvPr/>
        </p:nvSpPr>
        <p:spPr>
          <a:xfrm>
            <a:off x="8778240" y="594360"/>
            <a:ext cx="2926080" cy="329184"/>
          </a:xfrm>
          <a:prstGeom prst="roundRect">
            <a:avLst/>
          </a:prstGeom>
          <a:solidFill>
            <a:srgbClr val="1C2F4A"/>
          </a:solidFill>
          <a:ln w="12700">
            <a:solidFill>
              <a:srgbClr val="627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E0FCFF"/>
                </a:solidFill>
                <a:latin typeface="Segoe UI"/>
              </a:defRPr>
            </a:pPr>
            <a:r>
              <a:t>[SOFTWARE SIMULATION ONLY]</a:t>
            </a:r>
          </a:p>
        </p:txBody>
      </p:sp>
      <p:sp>
        <p:nvSpPr>
          <p:cNvPr id="8" name="Rectangle 7"/>
          <p:cNvSpPr/>
          <p:nvPr/>
        </p:nvSpPr>
        <p:spPr>
          <a:xfrm>
            <a:off x="0" y="6537960"/>
            <a:ext cx="12191695" cy="320040"/>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6565392"/>
            <a:ext cx="11094415" cy="274320"/>
          </a:xfrm>
          <a:prstGeom prst="rect">
            <a:avLst/>
          </a:prstGeom>
          <a:noFill/>
        </p:spPr>
        <p:txBody>
          <a:bodyPr wrap="none" lIns="0" tIns="0" rIns="0" bIns="0">
            <a:spAutoFit/>
          </a:bodyPr>
          <a:lstStyle/>
          <a:p>
            <a:pPr>
              <a:defRPr sz="850">
                <a:solidFill>
                  <a:srgbClr val="B0C4DE"/>
                </a:solidFill>
                <a:latin typeface="Segoe UI"/>
              </a:defRPr>
            </a:pPr>
            <a:r>
              <a:t>ESD &amp; IoT | Exp 11: Digital Tachometer with Velocity Estimation  •  Software Simulation Model  •  Engineering Review</a:t>
            </a:r>
          </a:p>
        </p:txBody>
      </p:sp>
      <p:sp>
        <p:nvSpPr>
          <p:cNvPr id="10" name="Rounded Rectangle 9"/>
          <p:cNvSpPr/>
          <p:nvPr/>
        </p:nvSpPr>
        <p:spPr>
          <a:xfrm>
            <a:off x="548640" y="1325880"/>
            <a:ext cx="5394960" cy="3977639"/>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1325880"/>
            <a:ext cx="5394960" cy="420624"/>
          </a:xfrm>
          <a:prstGeom prst="rect">
            <a:avLst/>
          </a:prstGeom>
          <a:solidFill>
            <a:srgbClr val="0B1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Project Synthesis &amp; Conclusions</a:t>
            </a:r>
          </a:p>
        </p:txBody>
      </p:sp>
      <p:sp>
        <p:nvSpPr>
          <p:cNvPr id="13" name="TextBox 12"/>
          <p:cNvSpPr txBox="1"/>
          <p:nvPr/>
        </p:nvSpPr>
        <p:spPr>
          <a:xfrm>
            <a:off x="731520" y="1828800"/>
            <a:ext cx="5029200" cy="3383279"/>
          </a:xfrm>
          <a:prstGeom prst="rect">
            <a:avLst/>
          </a:prstGeom>
          <a:noFill/>
        </p:spPr>
        <p:txBody>
          <a:bodyPr wrap="square">
            <a:spAutoFit/>
          </a:bodyPr>
          <a:lstStyle/>
          <a:p>
            <a:pPr>
              <a:spcBef>
                <a:spcPts val="0"/>
              </a:spcBef>
              <a:defRPr sz="950" b="1">
                <a:solidFill>
                  <a:srgbClr val="0B1B3D"/>
                </a:solidFill>
              </a:defRPr>
            </a:pPr>
            <a:r>
              <a:t>✔ Successful Algorithmic Modeling:</a:t>
            </a:r>
          </a:p>
          <a:p>
            <a:pPr>
              <a:spcBef>
                <a:spcPts val="200"/>
              </a:spcBef>
              <a:defRPr sz="850">
                <a:solidFill>
                  <a:srgbClr val="243B53"/>
                </a:solidFill>
              </a:defRPr>
            </a:pPr>
            <a:r>
              <a:t>  Designed and validated a software simulation model of a digital tachometer with velocity estimation for ESD &amp; IoT Experiment 11.</a:t>
            </a:r>
          </a:p>
          <a:p>
            <a:pPr>
              <a:spcBef>
                <a:spcPts val="500"/>
              </a:spcBef>
              <a:defRPr sz="950" b="1">
                <a:solidFill>
                  <a:srgbClr val="0B1B3D"/>
                </a:solidFill>
              </a:defRPr>
            </a:pPr>
            <a:r>
              <a:t>✔ Decoupled Hardware Timer Concept:</a:t>
            </a:r>
          </a:p>
          <a:p>
            <a:pPr>
              <a:spcBef>
                <a:spcPts val="200"/>
              </a:spcBef>
              <a:defRPr sz="850">
                <a:solidFill>
                  <a:srgbClr val="243B53"/>
                </a:solidFill>
              </a:defRPr>
            </a:pPr>
            <a:r>
              <a:t>  Demonstrated that using STM32 Timer 2 for asynchronous pulse accumulation and Timer 3 for periodic 1.0s interrupt timing provides non-blocking, deterministic performance.</a:t>
            </a:r>
          </a:p>
          <a:p>
            <a:pPr>
              <a:spcBef>
                <a:spcPts val="500"/>
              </a:spcBef>
              <a:defRPr sz="950" b="1">
                <a:solidFill>
                  <a:srgbClr val="0B1B3D"/>
                </a:solidFill>
              </a:defRPr>
            </a:pPr>
            <a:r>
              <a:t>✔ Accurate RPM &amp; SI Velocity Derivation:</a:t>
            </a:r>
          </a:p>
          <a:p>
            <a:pPr>
              <a:spcBef>
                <a:spcPts val="200"/>
              </a:spcBef>
              <a:defRPr sz="850">
                <a:solidFill>
                  <a:srgbClr val="243B53"/>
                </a:solidFill>
              </a:defRPr>
            </a:pPr>
            <a:r>
              <a:t>  Successfully calculated rotational speed (RPM) and angular velocity (rad/s) across 0, 300, 600, and 900 RPM test regimes with zero mathematical error.</a:t>
            </a:r>
          </a:p>
          <a:p>
            <a:pPr>
              <a:spcBef>
                <a:spcPts val="500"/>
              </a:spcBef>
              <a:defRPr sz="950" b="1">
                <a:solidFill>
                  <a:srgbClr val="0B1B3D"/>
                </a:solidFill>
              </a:defRPr>
            </a:pPr>
            <a:r>
              <a:t>✔ Value of Pre-Implementation Simulation:</a:t>
            </a:r>
          </a:p>
          <a:p>
            <a:pPr>
              <a:spcBef>
                <a:spcPts val="200"/>
              </a:spcBef>
              <a:defRPr sz="850">
                <a:solidFill>
                  <a:srgbClr val="243B53"/>
                </a:solidFill>
              </a:defRPr>
            </a:pPr>
            <a:r>
              <a:t>  Software simulation successfully proved firmware logic, division-by-zero protection, and edge counting conventions before physical PCB assembly.</a:t>
            </a:r>
          </a:p>
        </p:txBody>
      </p:sp>
      <p:sp>
        <p:nvSpPr>
          <p:cNvPr id="14" name="Rounded Rectangle 13"/>
          <p:cNvSpPr/>
          <p:nvPr/>
        </p:nvSpPr>
        <p:spPr>
          <a:xfrm>
            <a:off x="6217920" y="1325880"/>
            <a:ext cx="5394960" cy="3977639"/>
          </a:xfrm>
          <a:prstGeom prst="roundRect">
            <a:avLst/>
          </a:prstGeom>
          <a:solidFill>
            <a:srgbClr val="F0F4F8"/>
          </a:solidFill>
          <a:ln w="177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325880"/>
            <a:ext cx="5394960" cy="420624"/>
          </a:xfrm>
          <a:prstGeom prst="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1362456"/>
            <a:ext cx="5120640" cy="347472"/>
          </a:xfrm>
          <a:prstGeom prst="rect">
            <a:avLst/>
          </a:prstGeom>
          <a:noFill/>
        </p:spPr>
        <p:txBody>
          <a:bodyPr wrap="none" lIns="0" tIns="0" rIns="0" bIns="0">
            <a:spAutoFit/>
          </a:bodyPr>
          <a:lstStyle/>
          <a:p>
            <a:pPr algn="l">
              <a:defRPr sz="1050" b="1">
                <a:solidFill>
                  <a:srgbClr val="FFFFFF"/>
                </a:solidFill>
                <a:latin typeface="Segoe UI"/>
              </a:defRPr>
            </a:pPr>
            <a:r>
              <a:t>Future Scope &amp; IoT Prototype Roadmap</a:t>
            </a:r>
          </a:p>
        </p:txBody>
      </p:sp>
      <p:sp>
        <p:nvSpPr>
          <p:cNvPr id="17" name="TextBox 16"/>
          <p:cNvSpPr txBox="1"/>
          <p:nvPr/>
        </p:nvSpPr>
        <p:spPr>
          <a:xfrm>
            <a:off x="6400800" y="1828800"/>
            <a:ext cx="5029200" cy="3383279"/>
          </a:xfrm>
          <a:prstGeom prst="rect">
            <a:avLst/>
          </a:prstGeom>
          <a:noFill/>
        </p:spPr>
        <p:txBody>
          <a:bodyPr wrap="square">
            <a:spAutoFit/>
          </a:bodyPr>
          <a:lstStyle/>
          <a:p>
            <a:pPr>
              <a:spcBef>
                <a:spcPts val="0"/>
              </a:spcBef>
              <a:defRPr sz="950" b="1">
                <a:solidFill>
                  <a:srgbClr val="0B1B3D"/>
                </a:solidFill>
              </a:defRPr>
            </a:pPr>
            <a:r>
              <a:t>➔ Phase 1: Physical Hardware Assembly:</a:t>
            </a:r>
          </a:p>
          <a:p>
            <a:pPr>
              <a:spcBef>
                <a:spcPts val="200"/>
              </a:spcBef>
              <a:defRPr sz="850">
                <a:solidFill>
                  <a:srgbClr val="243B53"/>
                </a:solidFill>
              </a:defRPr>
            </a:pPr>
            <a:r>
              <a:t>  Assemble physical testbed with STM32F401RE Nucleo board, slotted optical sensor with LM393 comparator, and 12V DC motor test rig.</a:t>
            </a:r>
          </a:p>
          <a:p>
            <a:pPr>
              <a:spcBef>
                <a:spcPts val="500"/>
              </a:spcBef>
              <a:defRPr sz="950" b="1">
                <a:solidFill>
                  <a:srgbClr val="0B1B3D"/>
                </a:solidFill>
              </a:defRPr>
            </a:pPr>
            <a:r>
              <a:t>➔ Phase 2: Signal Conditioning &amp; Digital Filtering:</a:t>
            </a:r>
          </a:p>
          <a:p>
            <a:pPr>
              <a:spcBef>
                <a:spcPts val="200"/>
              </a:spcBef>
              <a:defRPr sz="850">
                <a:solidFill>
                  <a:srgbClr val="243B53"/>
                </a:solidFill>
              </a:defRPr>
            </a:pPr>
            <a:r>
              <a:t>  Integrate hardware RC low-pass filtering / Schmitt triggers for contact debouncing, and implement moving average / IIR filtering for low speeds.</a:t>
            </a:r>
          </a:p>
          <a:p>
            <a:pPr>
              <a:spcBef>
                <a:spcPts val="500"/>
              </a:spcBef>
              <a:defRPr sz="950" b="1">
                <a:solidFill>
                  <a:srgbClr val="0B1B3D"/>
                </a:solidFill>
              </a:defRPr>
            </a:pPr>
            <a:r>
              <a:t>➔ Phase 3: High-Resolution Quadrature Decoding:</a:t>
            </a:r>
          </a:p>
          <a:p>
            <a:pPr>
              <a:spcBef>
                <a:spcPts val="200"/>
              </a:spcBef>
              <a:defRPr sz="850">
                <a:solidFill>
                  <a:srgbClr val="243B53"/>
                </a:solidFill>
              </a:defRPr>
            </a:pPr>
            <a:r>
              <a:t>  Migrate to industrial 360/600 CPR optical encoder using STM32 hardware 4x encoder mode for bidirectional rotation sensing and sub-RPM precision.</a:t>
            </a:r>
          </a:p>
          <a:p>
            <a:pPr>
              <a:spcBef>
                <a:spcPts val="500"/>
              </a:spcBef>
              <a:defRPr sz="950" b="1">
                <a:solidFill>
                  <a:srgbClr val="0B1B3D"/>
                </a:solidFill>
              </a:defRPr>
            </a:pPr>
            <a:r>
              <a:t>➔ Phase 4: IoT Cloud Telemetry &amp; Remote Dashboard:</a:t>
            </a:r>
          </a:p>
          <a:p>
            <a:pPr>
              <a:spcBef>
                <a:spcPts val="200"/>
              </a:spcBef>
              <a:defRPr sz="850">
                <a:solidFill>
                  <a:srgbClr val="243B53"/>
                </a:solidFill>
              </a:defRPr>
            </a:pPr>
            <a:r>
              <a:t>  Interface ESP32 / Wi-Fi module over UART to stream real-time speed, duty cycle, and vibration data via MQTT to a ThingSpeak / AWS IoT cloud dashboard.</a:t>
            </a:r>
          </a:p>
        </p:txBody>
      </p:sp>
      <p:sp>
        <p:nvSpPr>
          <p:cNvPr id="18" name="Rounded Rectangle 17"/>
          <p:cNvSpPr/>
          <p:nvPr/>
        </p:nvSpPr>
        <p:spPr>
          <a:xfrm>
            <a:off x="548640" y="5440680"/>
            <a:ext cx="11064240" cy="914400"/>
          </a:xfrm>
          <a:prstGeom prst="roundRect">
            <a:avLst/>
          </a:prstGeom>
          <a:solidFill>
            <a:srgbClr val="0B1B3D"/>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00E5FF"/>
                </a:solidFill>
                <a:latin typeface="Segoe UI"/>
              </a:defRPr>
            </a:pPr>
            <a:r>
              <a:t>THANK YOU!</a:t>
            </a:r>
          </a:p>
          <a:p>
            <a:pPr algn="ctr">
              <a:spcBef>
                <a:spcPts val="200"/>
              </a:spcBef>
              <a:defRPr sz="1000">
                <a:solidFill>
                  <a:srgbClr val="FFFFFF"/>
                </a:solidFill>
                <a:latin typeface="Segoe UI"/>
              </a:defRPr>
            </a:pPr>
            <a:r>
              <a:t>Open for Questions, Technical Discussion, and Laboratory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5219</Words>
  <Application>Microsoft Office PowerPoint</Application>
  <PresentationFormat>Widescreen</PresentationFormat>
  <Paragraphs>287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Subhash Teja</cp:lastModifiedBy>
  <cp:revision>1</cp:revision>
  <dcterms:created xsi:type="dcterms:W3CDTF">2013-01-27T09:14:16Z</dcterms:created>
  <dcterms:modified xsi:type="dcterms:W3CDTF">2026-10-13T14:00:05Z</dcterms:modified>
  <cp:category/>
</cp:coreProperties>
</file>